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E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84B"/>
                </a:solidFill>
                <a:latin typeface="Calibri"/>
              </a:rPr>
              <a:t>ЛИТЕРАТУРНЫЙ АНАЛИЗ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5E6C8"/>
                </a:solidFill>
                <a:latin typeface="Georgia"/>
              </a:rPr>
              <a:t>Портретные характеристики героев романа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i="1">
                <a:solidFill>
                  <a:srgbClr val="D4A84B"/>
                </a:solidFill>
                <a:latin typeface="Georgia"/>
              </a:rPr>
              <a:t>«Война и мир»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749039"/>
            <a:ext cx="2103120" cy="25400"/>
          </a:xfrm>
          <a:prstGeom prst="rect">
            <a:avLst/>
          </a:prstGeom>
          <a:solidFill>
            <a:srgbClr val="B5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6A52"/>
                </a:solidFill>
                <a:latin typeface="Calibri"/>
              </a:rPr>
              <a:t>Л. Н. Толстой  ·  Портрет как инструмент нравственной оценки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B684F4EC-1830-5D01-780C-CD26DAD0DD32}"/>
              </a:ext>
            </a:extLst>
          </p:cNvPr>
          <p:cNvSpPr/>
          <p:nvPr/>
        </p:nvSpPr>
        <p:spPr>
          <a:xfrm>
            <a:off x="4284980" y="3308252"/>
            <a:ext cx="3060700" cy="143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D8E425FB-332E-3F51-2C50-CBE0D5C19C23}"/>
              </a:ext>
            </a:extLst>
          </p:cNvPr>
          <p:cNvSpPr/>
          <p:nvPr/>
        </p:nvSpPr>
        <p:spPr>
          <a:xfrm>
            <a:off x="4284979" y="3308251"/>
            <a:ext cx="50801" cy="143256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6FB94C20-6D0B-477D-34D9-3B682C776FB7}"/>
              </a:ext>
            </a:extLst>
          </p:cNvPr>
          <p:cNvSpPr/>
          <p:nvPr/>
        </p:nvSpPr>
        <p:spPr>
          <a:xfrm>
            <a:off x="457199" y="3276756"/>
            <a:ext cx="3060700" cy="143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6452C538-25EE-AF6C-8A4E-1775874E1070}"/>
              </a:ext>
            </a:extLst>
          </p:cNvPr>
          <p:cNvSpPr/>
          <p:nvPr/>
        </p:nvSpPr>
        <p:spPr>
          <a:xfrm>
            <a:off x="457198" y="3276755"/>
            <a:ext cx="50801" cy="143256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3511BFE5-0005-FA4A-42A6-A5EACD7034EF}"/>
              </a:ext>
            </a:extLst>
          </p:cNvPr>
          <p:cNvSpPr/>
          <p:nvPr/>
        </p:nvSpPr>
        <p:spPr>
          <a:xfrm>
            <a:off x="4315460" y="1691640"/>
            <a:ext cx="3060700" cy="143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113C0D38-87FD-F1F2-E499-7B964AF4A536}"/>
              </a:ext>
            </a:extLst>
          </p:cNvPr>
          <p:cNvSpPr/>
          <p:nvPr/>
        </p:nvSpPr>
        <p:spPr>
          <a:xfrm>
            <a:off x="4315459" y="1691639"/>
            <a:ext cx="50801" cy="143256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Портрет как инструмент Толстого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060700" cy="1432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199" y="1691639"/>
            <a:ext cx="50801" cy="143256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1746504"/>
            <a:ext cx="238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A1208"/>
                </a:solidFill>
                <a:latin typeface="Calibri"/>
              </a:rPr>
              <a:t>Не</a:t>
            </a:r>
            <a:r>
              <a:rPr sz="1600" b="1" dirty="0">
                <a:solidFill>
                  <a:srgbClr val="1A120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1208"/>
                </a:solidFill>
                <a:latin typeface="Calibri"/>
              </a:rPr>
              <a:t>статичный</a:t>
            </a:r>
            <a:r>
              <a:rPr sz="1600" b="1" dirty="0">
                <a:solidFill>
                  <a:srgbClr val="1A120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1208"/>
                </a:solidFill>
                <a:latin typeface="Calibri"/>
              </a:rPr>
              <a:t>портрет</a:t>
            </a:r>
            <a:endParaRPr sz="1600"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2020824"/>
            <a:ext cx="2382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D3020"/>
                </a:solidFill>
                <a:latin typeface="Calibri"/>
              </a:rPr>
              <a:t>Детали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внешности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появляются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постепенно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вместе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развитием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характера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ситуации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4088" y="1744641"/>
            <a:ext cx="238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A1208"/>
                </a:solidFill>
                <a:latin typeface="Calibri"/>
              </a:rPr>
              <a:t>Повторяющиеся</a:t>
            </a:r>
            <a:r>
              <a:rPr sz="1600" b="1" dirty="0">
                <a:solidFill>
                  <a:srgbClr val="1A120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1208"/>
                </a:solidFill>
                <a:latin typeface="Calibri"/>
              </a:rPr>
              <a:t>детали</a:t>
            </a:r>
            <a:endParaRPr sz="1600"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14088" y="2095161"/>
            <a:ext cx="2382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3D3020"/>
                </a:solidFill>
                <a:latin typeface="Calibri"/>
              </a:rPr>
              <a:t>Автор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выбирает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1–2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ключевые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черты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возвращается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к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ним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снова</a:t>
            </a:r>
            <a:r>
              <a:rPr sz="12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Они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становятся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символами</a:t>
            </a:r>
            <a:r>
              <a:rPr sz="12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98520"/>
            <a:ext cx="238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A1208"/>
                </a:solidFill>
                <a:latin typeface="Calibri"/>
              </a:rPr>
              <a:t>Оценка</a:t>
            </a:r>
            <a:r>
              <a:rPr sz="1600" b="1" dirty="0">
                <a:solidFill>
                  <a:srgbClr val="1A120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1208"/>
                </a:solidFill>
                <a:latin typeface="Calibri"/>
              </a:rPr>
              <a:t>через</a:t>
            </a:r>
            <a:r>
              <a:rPr sz="1600" b="1" dirty="0">
                <a:solidFill>
                  <a:srgbClr val="1A120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1208"/>
                </a:solidFill>
                <a:latin typeface="Calibri"/>
              </a:rPr>
              <a:t>деталь</a:t>
            </a:r>
            <a:endParaRPr sz="1600"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8000" y="3776811"/>
            <a:ext cx="2382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D3020"/>
                </a:solidFill>
                <a:latin typeface="Calibri"/>
              </a:rPr>
              <a:t>Красивая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внешность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почти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всегда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тревожный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знак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Некрасивая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внешность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«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любимых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» —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знак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духовности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0588" y="3414099"/>
            <a:ext cx="2382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1A1208"/>
                </a:solidFill>
                <a:latin typeface="Calibri"/>
              </a:rPr>
              <a:t>Динамика</a:t>
            </a:r>
            <a:r>
              <a:rPr sz="1600"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1A1208"/>
                </a:solidFill>
                <a:latin typeface="Calibri"/>
              </a:rPr>
              <a:t>портрета</a:t>
            </a:r>
            <a:endParaRPr sz="16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50588" y="3770715"/>
            <a:ext cx="2382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solidFill>
                  <a:srgbClr val="3D3020"/>
                </a:solidFill>
                <a:latin typeface="Calibri"/>
              </a:rPr>
              <a:t>Внешность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меняется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вместе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душой</a:t>
            </a:r>
            <a:r>
              <a:rPr sz="12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Наташа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расцветает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увядает</a:t>
            </a:r>
            <a:r>
              <a:rPr sz="12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Андрей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оживает</a:t>
            </a:r>
            <a:r>
              <a:rPr sz="12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200" dirty="0" err="1">
                <a:solidFill>
                  <a:srgbClr val="3D3020"/>
                </a:solidFill>
                <a:latin typeface="Calibri"/>
              </a:rPr>
              <a:t>каменеет</a:t>
            </a:r>
            <a:r>
              <a:rPr sz="12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480" y="863184"/>
            <a:ext cx="2788920" cy="36763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46347" y="4851399"/>
            <a:ext cx="2413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 dirty="0">
                <a:solidFill>
                  <a:srgbClr val="7A6A52"/>
                </a:solidFill>
                <a:latin typeface="Calibri"/>
              </a:rPr>
              <a:t>Л. Н.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Толстой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, 1897 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ПРИНЦИПЫ МАСТЕРСТВА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 dirty="0" err="1">
                <a:solidFill>
                  <a:srgbClr val="7B1D1D"/>
                </a:solidFill>
                <a:latin typeface="Georgia"/>
              </a:rPr>
              <a:t>На</a:t>
            </a:r>
            <a:r>
              <a:rPr sz="2500"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sz="2500" b="0" i="0" dirty="0" err="1">
                <a:solidFill>
                  <a:srgbClr val="7B1D1D"/>
                </a:solidFill>
                <a:latin typeface="Georgia"/>
              </a:rPr>
              <a:t>что</a:t>
            </a:r>
            <a:r>
              <a:rPr sz="2500"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sz="2500" b="0" i="0" dirty="0" err="1">
                <a:solidFill>
                  <a:srgbClr val="7B1D1D"/>
                </a:solidFill>
                <a:latin typeface="Georgia"/>
              </a:rPr>
              <a:t>обращает</a:t>
            </a:r>
            <a:r>
              <a:rPr sz="2500"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sz="2500" b="0" i="0" dirty="0" err="1">
                <a:solidFill>
                  <a:srgbClr val="7B1D1D"/>
                </a:solidFill>
                <a:latin typeface="Georgia"/>
              </a:rPr>
              <a:t>внимание</a:t>
            </a:r>
            <a:r>
              <a:rPr sz="2500"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sz="2500" b="0" i="0" dirty="0" err="1">
                <a:solidFill>
                  <a:srgbClr val="7B1D1D"/>
                </a:solidFill>
                <a:latin typeface="Georgia"/>
              </a:rPr>
              <a:t>Толстой</a:t>
            </a:r>
            <a:endParaRPr sz="2500" b="0" i="0" dirty="0">
              <a:solidFill>
                <a:srgbClr val="7B1D1D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58444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8100" cy="100584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5780" y="1755648"/>
            <a:ext cx="3406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7B1D1D"/>
                </a:solidFill>
                <a:latin typeface="Calibri"/>
              </a:rPr>
              <a:t>Глаза</a:t>
            </a:r>
            <a:endParaRPr b="1" i="0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780" y="2011680"/>
            <a:ext cx="3406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3D3020"/>
                </a:solidFill>
                <a:latin typeface="Calibri"/>
              </a:rPr>
              <a:t>Главная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деталь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Лучистые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духовность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тусклые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бездушие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умные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интеллект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91640"/>
            <a:ext cx="358444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691640"/>
            <a:ext cx="38100" cy="100584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0540" y="1755648"/>
            <a:ext cx="3406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7B1D1D"/>
                </a:solidFill>
                <a:latin typeface="Calibri"/>
              </a:rPr>
              <a:t>Улыбка</a:t>
            </a:r>
            <a:endParaRPr b="1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0540" y="2011680"/>
            <a:ext cx="34066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Искренняя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открытость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дежурная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лицемерие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обольстительная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манипуляция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691640"/>
            <a:ext cx="358444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38100" cy="100584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5300" y="1755648"/>
            <a:ext cx="3406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7B1D1D"/>
                </a:solidFill>
                <a:latin typeface="Calibri"/>
              </a:rPr>
              <a:t>Руки</a:t>
            </a:r>
            <a:endParaRPr b="1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15300" y="2011680"/>
            <a:ext cx="3406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Сухие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руки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Болконского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воля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красивые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белые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руки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Анатоля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пустая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788920"/>
            <a:ext cx="358444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2788920"/>
            <a:ext cx="38100" cy="100584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" y="2852928"/>
            <a:ext cx="3406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7B1D1D"/>
                </a:solidFill>
                <a:latin typeface="Calibri"/>
              </a:rPr>
              <a:t>Осанка</a:t>
            </a:r>
            <a:r>
              <a:rPr b="1" dirty="0">
                <a:solidFill>
                  <a:srgbClr val="7B1D1D"/>
                </a:solidFill>
                <a:latin typeface="Calibri"/>
              </a:rPr>
              <a:t> и </a:t>
            </a:r>
            <a:r>
              <a:rPr b="1" dirty="0" err="1">
                <a:solidFill>
                  <a:srgbClr val="7B1D1D"/>
                </a:solidFill>
                <a:latin typeface="Calibri"/>
              </a:rPr>
              <a:t>походка</a:t>
            </a:r>
            <a:endParaRPr b="1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5780" y="3108960"/>
            <a:ext cx="34066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Тяжёлая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поступь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Пьера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основательность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лёгкость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Наташи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жизненная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энергия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788920"/>
            <a:ext cx="358444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2788920"/>
            <a:ext cx="38100" cy="100584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540" y="2852928"/>
            <a:ext cx="3406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7B1D1D"/>
                </a:solidFill>
                <a:latin typeface="Calibri"/>
              </a:rPr>
              <a:t>Голос</a:t>
            </a:r>
            <a:r>
              <a:rPr b="1" dirty="0">
                <a:solidFill>
                  <a:srgbClr val="7B1D1D"/>
                </a:solidFill>
                <a:latin typeface="Calibri"/>
              </a:rPr>
              <a:t> и </a:t>
            </a:r>
            <a:r>
              <a:rPr b="1" dirty="0" err="1">
                <a:solidFill>
                  <a:srgbClr val="7B1D1D"/>
                </a:solidFill>
                <a:latin typeface="Calibri"/>
              </a:rPr>
              <a:t>речь</a:t>
            </a:r>
            <a:endParaRPr b="1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20540" y="3108960"/>
            <a:ext cx="3406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Живая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прерывистая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речь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искренность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плавные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светские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фразы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пустота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2788920"/>
            <a:ext cx="358444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2788920"/>
            <a:ext cx="38100" cy="100584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5300" y="2852928"/>
            <a:ext cx="3406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7B1D1D"/>
                </a:solidFill>
                <a:latin typeface="Calibri"/>
              </a:rPr>
              <a:t>Особые</a:t>
            </a:r>
            <a:r>
              <a:rPr b="1" dirty="0">
                <a:solidFill>
                  <a:srgbClr val="7B1D1D"/>
                </a:solidFill>
                <a:latin typeface="Calibri"/>
              </a:rPr>
              <a:t> </a:t>
            </a:r>
            <a:r>
              <a:rPr b="1" dirty="0" err="1">
                <a:solidFill>
                  <a:srgbClr val="7B1D1D"/>
                </a:solidFill>
                <a:latin typeface="Calibri"/>
              </a:rPr>
              <a:t>детали</a:t>
            </a:r>
            <a:endParaRPr b="1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5300" y="3108960"/>
            <a:ext cx="3406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Короткая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губа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Лизы</a:t>
            </a:r>
            <a:r>
              <a:rPr sz="140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белая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шея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Элен</a:t>
            </a:r>
            <a:r>
              <a:rPr sz="1400" dirty="0">
                <a:solidFill>
                  <a:srgbClr val="3D3020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очки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Пьера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метафоры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характеров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ПРИНЦИП ОЦЕНКИ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 dirty="0" err="1">
                <a:solidFill>
                  <a:srgbClr val="7B1D1D"/>
                </a:solidFill>
                <a:latin typeface="Georgia"/>
              </a:rPr>
              <a:t>Портрет</a:t>
            </a:r>
            <a:r>
              <a:rPr sz="2500"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sz="2500" b="0" i="0" dirty="0" err="1">
                <a:solidFill>
                  <a:srgbClr val="7B1D1D"/>
                </a:solidFill>
                <a:latin typeface="Georgia"/>
              </a:rPr>
              <a:t>как</a:t>
            </a:r>
            <a:r>
              <a:rPr sz="2500"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sz="2500" b="0" i="0" dirty="0" err="1">
                <a:solidFill>
                  <a:srgbClr val="7B1D1D"/>
                </a:solidFill>
                <a:latin typeface="Georgia"/>
              </a:rPr>
              <a:t>нравственная</a:t>
            </a:r>
            <a:r>
              <a:rPr sz="2500"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sz="2500" b="0" i="0" dirty="0" err="1">
                <a:solidFill>
                  <a:srgbClr val="7B1D1D"/>
                </a:solidFill>
                <a:latin typeface="Georgia"/>
              </a:rPr>
              <a:t>оценка</a:t>
            </a:r>
            <a:endParaRPr sz="2500" b="0" i="0" dirty="0">
              <a:solidFill>
                <a:srgbClr val="7B1D1D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7B1D1D"/>
                </a:solidFill>
                <a:latin typeface="Georgia"/>
              </a:rPr>
              <a:t>Любимые</a:t>
            </a:r>
            <a:r>
              <a:rPr b="0" i="0" dirty="0">
                <a:solidFill>
                  <a:srgbClr val="7B1D1D"/>
                </a:solidFill>
                <a:latin typeface="Georgia"/>
              </a:rPr>
              <a:t> </a:t>
            </a:r>
            <a:r>
              <a:rPr b="0" i="0" dirty="0" err="1">
                <a:solidFill>
                  <a:srgbClr val="7B1D1D"/>
                </a:solidFill>
                <a:latin typeface="Georgia"/>
              </a:rPr>
              <a:t>герои</a:t>
            </a:r>
            <a:endParaRPr b="0" i="0" dirty="0">
              <a:solidFill>
                <a:srgbClr val="7B1D1D"/>
              </a:solidFill>
              <a:latin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3949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664208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3D5A3E"/>
                </a:solidFill>
                <a:latin typeface="Georgia"/>
              </a:rPr>
              <a:t>Нелюбимые</a:t>
            </a:r>
            <a:r>
              <a:rPr b="0" i="0" dirty="0">
                <a:solidFill>
                  <a:srgbClr val="3D5A3E"/>
                </a:solidFill>
                <a:latin typeface="Georgia"/>
              </a:rPr>
              <a:t> </a:t>
            </a:r>
            <a:r>
              <a:rPr b="0" i="0" dirty="0" err="1">
                <a:solidFill>
                  <a:srgbClr val="3D5A3E"/>
                </a:solidFill>
                <a:latin typeface="Georgia"/>
              </a:rPr>
              <a:t>герои</a:t>
            </a:r>
            <a:endParaRPr b="0" i="0" dirty="0">
              <a:solidFill>
                <a:srgbClr val="3D5A3E"/>
              </a:solidFill>
              <a:latin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537960" y="2011680"/>
            <a:ext cx="5212080" cy="254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38100" cy="4572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121408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Заурядная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или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некрасивая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внешность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2642615"/>
            <a:ext cx="38100" cy="4572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642615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D3020"/>
                </a:solidFill>
                <a:latin typeface="Calibri"/>
              </a:rPr>
              <a:t>Живые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лучистые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умные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глаза</a:t>
            </a:r>
            <a:endParaRPr sz="1600" b="0" i="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7200" y="3163822"/>
            <a:ext cx="38100" cy="4572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163822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Искренняя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некрасивая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настоящая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улыбка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685029"/>
            <a:ext cx="38100" cy="4572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685029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меняется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вместе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душой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4206236"/>
            <a:ext cx="38100" cy="4572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206236"/>
            <a:ext cx="5212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Внешность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одухотворена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изнутри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37960" y="2121408"/>
            <a:ext cx="38100" cy="4572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212140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Броская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мраморная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скульптурная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красота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37960" y="2642615"/>
            <a:ext cx="38100" cy="4572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2642615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Пустые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или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холодные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глаза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37960" y="3163822"/>
            <a:ext cx="38100" cy="4572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39128" y="316382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Дежурная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обольстительная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неизменная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улыбка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37960" y="3685029"/>
            <a:ext cx="38100" cy="4572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9128" y="3685029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застывший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герои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развиваются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37960" y="4206236"/>
            <a:ext cx="38100" cy="4572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8" y="420623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маскирует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пустоту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или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порок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5230368"/>
            <a:ext cx="11274552" cy="804672"/>
          </a:xfrm>
          <a:prstGeom prst="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230368"/>
            <a:ext cx="38100" cy="80467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5303520"/>
            <a:ext cx="10817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1A1208"/>
                </a:solidFill>
                <a:latin typeface="Georgia"/>
              </a:rPr>
              <a:t>«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Красота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без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добра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—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ничто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;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уродство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с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добром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—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всё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» —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подтекст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портретной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системы</a:t>
            </a:r>
            <a:r>
              <a:rPr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b="0" i="1" dirty="0" err="1">
                <a:solidFill>
                  <a:srgbClr val="1A1208"/>
                </a:solidFill>
                <a:latin typeface="Georgia"/>
              </a:rPr>
              <a:t>Толстого</a:t>
            </a:r>
            <a:endParaRPr b="0" i="1" dirty="0">
              <a:solidFill>
                <a:srgbClr val="1A1208"/>
              </a:solidFill>
              <a:latin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ЛЮБИМЫЕ ГЕРОИ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47548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Князь Андрей Болконский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115568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88920" y="1554480"/>
            <a:ext cx="91440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8920" y="155448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1627632"/>
            <a:ext cx="8915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1A1208"/>
                </a:solidFill>
                <a:latin typeface="Calibri"/>
              </a:rPr>
              <a:t>Глаза</a:t>
            </a:r>
            <a:r>
              <a:rPr sz="1600" b="1" i="0" dirty="0">
                <a:solidFill>
                  <a:srgbClr val="1A1208"/>
                </a:solidFill>
                <a:latin typeface="Calibri"/>
              </a:rPr>
              <a:t> и </a:t>
            </a:r>
            <a:r>
              <a:rPr sz="1600" b="1" i="0" dirty="0" err="1">
                <a:solidFill>
                  <a:srgbClr val="1A1208"/>
                </a:solidFill>
                <a:latin typeface="Calibri"/>
              </a:rPr>
              <a:t>взгляд</a:t>
            </a:r>
            <a:endParaRPr sz="16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648" y="1901952"/>
            <a:ext cx="8961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D3020"/>
                </a:solidFill>
                <a:latin typeface="Calibri"/>
              </a:rPr>
              <a:t>Усталые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скучающие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начале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отражение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разочарования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свете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После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Аустерлица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взгляд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меняется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открывается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небо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рождается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иное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понимание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жизни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3090672"/>
            <a:ext cx="91440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3090672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8648" y="3163824"/>
            <a:ext cx="8915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A1208"/>
                </a:solidFill>
                <a:latin typeface="Calibri"/>
              </a:rPr>
              <a:t>Улыбка</a:t>
            </a:r>
            <a:endParaRPr sz="1600"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8648" y="3438144"/>
            <a:ext cx="896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3D3020"/>
                </a:solidFill>
                <a:latin typeface="Calibri"/>
              </a:rPr>
              <a:t>Редкая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, с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лёгким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презрением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знак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гордости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и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закрытости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Когда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улыбается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искренне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(с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Пьером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, с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Наташей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) —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это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исключение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и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подлинный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момент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4626864"/>
            <a:ext cx="91440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8920" y="4626864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8648" y="4700016"/>
            <a:ext cx="8915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A1208"/>
                </a:solidFill>
                <a:latin typeface="Calibri"/>
              </a:rPr>
              <a:t>Динамика</a:t>
            </a:r>
            <a:r>
              <a:rPr sz="1600" b="1" dirty="0">
                <a:solidFill>
                  <a:srgbClr val="1A120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1208"/>
                </a:solidFill>
                <a:latin typeface="Calibri"/>
              </a:rPr>
              <a:t>портрета</a:t>
            </a:r>
            <a:endParaRPr sz="1600"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98648" y="4974336"/>
            <a:ext cx="8961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i="0" dirty="0" err="1">
                <a:solidFill>
                  <a:srgbClr val="3D3020"/>
                </a:solidFill>
                <a:latin typeface="Calibri"/>
              </a:rPr>
              <a:t>Сухость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lang="ru-RU" dirty="0">
                <a:solidFill>
                  <a:srgbClr val="3D3020"/>
                </a:solidFill>
              </a:rPr>
              <a:t>→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озарение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на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Аустерлице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→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оживление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любви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→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просветление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перед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смертью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Внешнее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всегда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следует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за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3D3020"/>
                </a:solidFill>
                <a:latin typeface="Calibri"/>
              </a:rPr>
              <a:t>внутренним</a:t>
            </a:r>
            <a:r>
              <a:rPr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A46AAFA-38D5-F3F2-A45C-C3BA2A0AE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22" y="1360086"/>
            <a:ext cx="2380229" cy="301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ЛЮБИМЫЕ ГЕРОИ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8244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 dirty="0">
                <a:solidFill>
                  <a:srgbClr val="7A6A52"/>
                </a:solidFill>
                <a:latin typeface="Calibri"/>
              </a:rPr>
              <a:t>С.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Бондарчук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в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роли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Пьера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Безухова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, 1966 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475488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Пьер Безухов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115568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88920" y="1554480"/>
            <a:ext cx="91440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8920" y="155448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1627632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A1208"/>
                </a:solidFill>
                <a:latin typeface="Calibri"/>
              </a:rPr>
              <a:t>«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Умный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наблюдательный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взгляд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901952"/>
            <a:ext cx="8961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D3020"/>
                </a:solidFill>
                <a:latin typeface="Calibri"/>
              </a:rPr>
              <a:t>За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очками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добрые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умные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наблюдательные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глаза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Это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главное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портрете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Пьера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Внешняя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неуклюжесть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лишь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оболочка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огромной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душевной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работы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3090672"/>
            <a:ext cx="91440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3090672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8648" y="3163824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1208"/>
                </a:solidFill>
                <a:latin typeface="Calibri"/>
              </a:rPr>
              <a:t>Неловкость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как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знак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подлинности</a:t>
            </a:r>
            <a:endParaRPr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8648" y="3438144"/>
            <a:ext cx="8961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3D3020"/>
                </a:solidFill>
                <a:latin typeface="Calibri"/>
              </a:rPr>
              <a:t>Пьер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вписывается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светское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пространство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задевает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что-то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знает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куда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деть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руки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Физическая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неловкость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невписываемость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мир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лжи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4626864"/>
            <a:ext cx="91440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8920" y="4626864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8648" y="4700016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1208"/>
                </a:solidFill>
                <a:latin typeface="Calibri"/>
              </a:rPr>
              <a:t>Путь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через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портрет</a:t>
            </a:r>
            <a:endParaRPr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98648" y="4974336"/>
            <a:ext cx="8961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D3020"/>
                </a:solidFill>
                <a:latin typeface="Calibri"/>
              </a:rPr>
              <a:t>В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финале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возмужавший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спокойный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с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той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же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добротой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глазах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но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внутренней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уверенностью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стал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цельным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вместе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личностью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8C9376C-836C-FE98-EABF-7EDC35322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07" y="1038804"/>
            <a:ext cx="2131585" cy="23901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ЛЮБИМЫЕ ГЕРОИ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863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Наташа Ростова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78638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7635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1208"/>
                </a:solidFill>
                <a:latin typeface="Calibri"/>
              </a:rPr>
              <a:t>Чёрные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живые</a:t>
            </a:r>
            <a:r>
              <a:rPr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1A1208"/>
                </a:solidFill>
                <a:latin typeface="Calibri"/>
              </a:rPr>
              <a:t>глаза</a:t>
            </a:r>
            <a:endParaRPr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1901952"/>
            <a:ext cx="7680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Толстой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называет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Наташу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красавицей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Главное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широко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открытые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чёрные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глаза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полные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жизни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Именно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они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завораживают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всех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а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правильность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черт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90672"/>
            <a:ext cx="78638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163824"/>
            <a:ext cx="7635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Большой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рот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как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деталь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искренности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3438144"/>
            <a:ext cx="7680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Некрасивая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бесконечно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выразительная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черта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Смеётся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широко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некрасиво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именно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это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обаяние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неотразимо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живёт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а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ищет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красоты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26864"/>
            <a:ext cx="786384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626864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700016"/>
            <a:ext cx="7635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Изменчивость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как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судьба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4974336"/>
            <a:ext cx="7680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После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предательства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потухшие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глаза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Гибель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Пети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угасание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Радость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материнства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новый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расцвет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живёт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вместе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судьбой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героини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321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 dirty="0" err="1">
                <a:solidFill>
                  <a:srgbClr val="7A6A52"/>
                </a:solidFill>
                <a:latin typeface="Calibri"/>
              </a:rPr>
              <a:t>Наташа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Ростова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на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первом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балу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.
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Иллюстрация</a:t>
            </a:r>
            <a:r>
              <a:rPr sz="750" b="0" i="1" dirty="0">
                <a:solidFill>
                  <a:srgbClr val="7A6A52"/>
                </a:solidFill>
                <a:latin typeface="Calibri"/>
              </a:rPr>
              <a:t> Д. А. </a:t>
            </a:r>
            <a:r>
              <a:rPr sz="750" b="0" i="1" dirty="0" err="1">
                <a:solidFill>
                  <a:srgbClr val="7A6A52"/>
                </a:solidFill>
                <a:latin typeface="Calibri"/>
              </a:rPr>
              <a:t>Шмаринова</a:t>
            </a:r>
            <a:endParaRPr sz="750" b="0" i="1" dirty="0">
              <a:solidFill>
                <a:srgbClr val="7A6A52"/>
              </a:solidFill>
              <a:latin typeface="Calibri"/>
            </a:endParaRP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24E9A8A-E034-34C7-7F23-2E582301E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229" y="1636959"/>
            <a:ext cx="3513139" cy="298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ЛЮБИМЫЕ ГЕРОИ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Княжна Марья Болконская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5321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176479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Лучистые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глаза</a:t>
            </a:r>
            <a:r>
              <a:rPr b="1" dirty="0">
                <a:solidFill>
                  <a:srgbClr val="1A1208"/>
                </a:solidFill>
                <a:latin typeface="Calibri"/>
              </a:rPr>
              <a:t> —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главный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символ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2039112"/>
            <a:ext cx="5349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Марья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некрасива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её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глаза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«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лучистые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глубокие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».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Именно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их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замечает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Николай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Ростов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через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них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видит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подлинную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красоту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красоту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которую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нельзя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увидеть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первого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взгляда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5321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76479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Контраст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внешнего</a:t>
            </a:r>
            <a:r>
              <a:rPr b="1" dirty="0">
                <a:solidFill>
                  <a:srgbClr val="1A1208"/>
                </a:solidFill>
                <a:latin typeface="Calibri"/>
              </a:rPr>
              <a:t> и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внутреннего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3660" y="2039112"/>
            <a:ext cx="5349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Тяжёлое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тело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неловкость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движений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намеренный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авторский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приём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Физическое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несовершенство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подчёркнуто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чтобы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показать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духовная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превышает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телесную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73552"/>
            <a:ext cx="55321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273552"/>
            <a:ext cx="38100" cy="13258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346704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Эталон</a:t>
            </a:r>
            <a:r>
              <a:rPr b="1" dirty="0">
                <a:solidFill>
                  <a:srgbClr val="1A1208"/>
                </a:solidFill>
                <a:latin typeface="Calibri"/>
              </a:rPr>
              <a:t> «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любимого</a:t>
            </a:r>
            <a:r>
              <a:rPr b="1" dirty="0">
                <a:solidFill>
                  <a:srgbClr val="1A1208"/>
                </a:solidFill>
                <a:latin typeface="Calibri"/>
              </a:rPr>
              <a:t>»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героя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3621024"/>
            <a:ext cx="539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Одна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деталь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(«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лучистые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глаза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»)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превращает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некрасивую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женщину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образ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духовной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красоты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Самый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чистый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пример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метода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Толстого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73552"/>
            <a:ext cx="5394960" cy="1325880"/>
          </a:xfrm>
          <a:prstGeom prst="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273552"/>
            <a:ext cx="38100" cy="13258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208"/>
                </a:solidFill>
                <a:latin typeface="Georgia"/>
              </a:rPr>
              <a:t>«Тяжёлая некрасивая внешность — и лучистые глаза. Толстой выбирает глаза.»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73168"/>
            <a:ext cx="11274552" cy="658368"/>
          </a:xfrm>
          <a:prstGeom prst="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846320"/>
            <a:ext cx="110002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020"/>
                </a:solidFill>
                <a:latin typeface="Calibri"/>
              </a:rPr>
              <a:t>Портрет Марьи — ответ на вопрос: что такое красота по Толстому? Не правильность черт — а свет, идущий изнутри.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ВТОРОСТЕПЕННЫЕ ГЕРОИ · НАРОДНЫЙ ТИП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Платон Каратаев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17647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208"/>
                </a:solidFill>
                <a:latin typeface="Calibri"/>
              </a:rPr>
              <a:t>Округлость как символ гармонии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39112"/>
            <a:ext cx="3474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3D3020"/>
                </a:solidFill>
                <a:latin typeface="Calibri"/>
              </a:rPr>
              <a:t>Всё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Каратаеве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круглое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голова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плечи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руки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движения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Круглость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символизирует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полноту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законченность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народную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мудрость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без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острых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углов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противоречий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691640"/>
            <a:ext cx="36576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15968" y="169164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0268" y="17647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208"/>
                </a:solidFill>
                <a:latin typeface="Calibri"/>
              </a:rPr>
              <a:t>Тёплая улыбка — принятие жизни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0268" y="2039112"/>
            <a:ext cx="3474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светская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улыбка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расчёта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тепло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простого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принятия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мира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Полная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противоположность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дежурной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»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улыбке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Шерер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холодности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Элен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Курагиной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691640"/>
            <a:ext cx="36576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691640"/>
            <a:ext cx="38100" cy="1444752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9036" y="17647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208"/>
                </a:solidFill>
                <a:latin typeface="Calibri"/>
              </a:rPr>
              <a:t>Народная философия в облике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036" y="2039112"/>
            <a:ext cx="3474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 err="1">
                <a:solidFill>
                  <a:srgbClr val="3D3020"/>
                </a:solidFill>
                <a:latin typeface="Calibri"/>
              </a:rPr>
              <a:t>Через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этот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воплощена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идея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«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естественного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человека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».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Встреча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ним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меняет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Пьера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изнутри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именно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через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внешнее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восприятие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образа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0128"/>
            <a:ext cx="11274552" cy="731520"/>
          </a:xfrm>
          <a:prstGeom prst="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310128"/>
            <a:ext cx="38100" cy="73152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3020"/>
                </a:solidFill>
                <a:latin typeface="Calibri"/>
              </a:rPr>
              <a:t>Каратаев — народный полюс портретной системы Толстого. Его облик — само воплощение простоты и гармонии, недоступной светским персонажам.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НЕЛЮБИМЫЕ ГЕРОИ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3D5A3E"/>
                </a:solidFill>
                <a:latin typeface="Georgia"/>
              </a:rPr>
              <a:t>Элен Курагина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321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8100" cy="1444752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176479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A1208"/>
                </a:solidFill>
                <a:latin typeface="Calibri"/>
              </a:rPr>
              <a:t>«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Мраморная</a:t>
            </a:r>
            <a:r>
              <a:rPr b="1" dirty="0">
                <a:solidFill>
                  <a:srgbClr val="1A1208"/>
                </a:solidFill>
                <a:latin typeface="Calibri"/>
              </a:rPr>
              <a:t>»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красота</a:t>
            </a:r>
            <a:r>
              <a:rPr b="1" dirty="0">
                <a:solidFill>
                  <a:srgbClr val="1A1208"/>
                </a:solidFill>
                <a:latin typeface="Calibri"/>
              </a:rPr>
              <a:t> —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мёртвость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2039112"/>
            <a:ext cx="5349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Белые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мраморные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плечи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жирная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белая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шея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Толстой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сравнивает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Элен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статуей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Мрамор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красив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холоден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мёртв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Это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без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души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321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38100" cy="1444752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3660" y="1764792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Неизменная</a:t>
            </a:r>
            <a:r>
              <a:rPr b="1" dirty="0">
                <a:solidFill>
                  <a:srgbClr val="1A1208"/>
                </a:solidFill>
                <a:latin typeface="Calibri"/>
              </a:rPr>
              <a:t> «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обольстительная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улыбка</a:t>
            </a:r>
            <a:r>
              <a:rPr b="1" dirty="0">
                <a:solidFill>
                  <a:srgbClr val="1A1208"/>
                </a:solidFill>
                <a:latin typeface="Calibri"/>
              </a:rPr>
              <a:t>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3660" y="2039112"/>
            <a:ext cx="5349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Улыбка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Элен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всегда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одна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никакой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живой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реакции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мир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никакой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искренности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Это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маска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Неизменность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главный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признак-приговор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73552"/>
            <a:ext cx="55321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273552"/>
            <a:ext cx="38100" cy="132588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346704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Статичность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как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знак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пустоты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3621024"/>
            <a:ext cx="539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Элен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меняется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начала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конца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романа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развивается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страдает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ищет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без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внутренней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жизни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нравственный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приговор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73552"/>
            <a:ext cx="5394960" cy="1325880"/>
          </a:xfrm>
          <a:prstGeom prst="rect">
            <a:avLst/>
          </a:prstGeom>
          <a:solidFill>
            <a:srgbClr val="EE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273552"/>
            <a:ext cx="38100" cy="132588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456432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208"/>
                </a:solidFill>
                <a:latin typeface="Georgia"/>
              </a:rPr>
              <a:t>Элен красива в точности так, как статуя:
безупречно и безжизненно.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НЕЛЮБИМЫЕ ГЕРОИ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3D5A3E"/>
                </a:solidFill>
                <a:latin typeface="Georgia"/>
              </a:rPr>
              <a:t>Анатоль Курагин и Фёдор Долохов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5A3E"/>
                </a:solidFill>
                <a:latin typeface="Georgia"/>
              </a:rPr>
              <a:t>Анатоль Курагин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486400" cy="254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21408"/>
            <a:ext cx="5532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121408"/>
            <a:ext cx="38100" cy="13716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1A1208"/>
                </a:solidFill>
                <a:latin typeface="Calibri"/>
              </a:rPr>
              <a:t>«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Красивые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белые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руки</a:t>
            </a:r>
            <a:r>
              <a:rPr b="1" dirty="0">
                <a:solidFill>
                  <a:srgbClr val="1A1208"/>
                </a:solidFill>
                <a:latin typeface="Calibri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68880"/>
            <a:ext cx="5349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Руки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которые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работают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создают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Прямой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контраст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маленькими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сухими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руками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старого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Болконского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полными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воли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30168"/>
            <a:ext cx="5532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630168"/>
            <a:ext cx="38100" cy="1371600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70332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Самодовольная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уверенность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3977640"/>
            <a:ext cx="5349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Уверенность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заработанная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а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данная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природой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Такая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опасная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ловушка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соблазняет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разрушает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ничего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создавая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6420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5882A"/>
                </a:solidFill>
                <a:latin typeface="Georgia"/>
              </a:rPr>
              <a:t>Долохов — сложный портрет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011680"/>
            <a:ext cx="5349240" cy="25400"/>
          </a:xfrm>
          <a:prstGeom prst="rect">
            <a:avLst/>
          </a:prstGeom>
          <a:solidFill>
            <a:srgbClr val="B5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2121408"/>
            <a:ext cx="5349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121408"/>
            <a:ext cx="38100" cy="1371600"/>
          </a:xfrm>
          <a:prstGeom prst="rect">
            <a:avLst/>
          </a:prstGeom>
          <a:solidFill>
            <a:srgbClr val="B5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19456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Светло-голубые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холодные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глаза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0528" y="2468880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Красивые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жёсткие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пустота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Анатоля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опасный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целеустремлённый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ум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направленный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разрушение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630168"/>
            <a:ext cx="5349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630168"/>
            <a:ext cx="38100" cy="1371600"/>
          </a:xfrm>
          <a:prstGeom prst="rect">
            <a:avLst/>
          </a:prstGeom>
          <a:solidFill>
            <a:srgbClr val="B5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70332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Парадокс</a:t>
            </a:r>
            <a:r>
              <a:rPr b="1" dirty="0">
                <a:solidFill>
                  <a:srgbClr val="1A1208"/>
                </a:solidFill>
                <a:latin typeface="Calibri"/>
              </a:rPr>
              <a:t>: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нежность</a:t>
            </a:r>
            <a:r>
              <a:rPr b="1" dirty="0">
                <a:solidFill>
                  <a:srgbClr val="1A1208"/>
                </a:solidFill>
                <a:latin typeface="Calibri"/>
              </a:rPr>
              <a:t> к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матери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0528" y="3977640"/>
            <a:ext cx="5166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3D3020"/>
                </a:solidFill>
                <a:latin typeface="Calibri"/>
              </a:rPr>
              <a:t>Холодный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дуэлянт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— и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нежный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сын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Самый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сложный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: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Толстой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показывает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что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он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рисует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чёрно-белые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образы</a:t>
            </a:r>
            <a:r>
              <a:rPr sz="16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ВТОРОСТЕПЕННЫЕ ГЕРОИ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Дополнительные портреты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972" y="3608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A6A52"/>
                </a:solidFill>
                <a:latin typeface="Calibri"/>
              </a:rPr>
              <a:t>Кутузов М. 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4572" y="1981031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74572" y="1981031"/>
            <a:ext cx="38100" cy="16002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884300" y="2045039"/>
            <a:ext cx="3703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1208"/>
                </a:solidFill>
                <a:latin typeface="Calibri"/>
              </a:rPr>
              <a:t>Кутузов</a:t>
            </a:r>
            <a:endParaRPr sz="14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98017" y="2278211"/>
            <a:ext cx="3749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3D3020"/>
                </a:solidFill>
                <a:latin typeface="Calibri"/>
              </a:rPr>
              <a:t>Грузный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дряхлый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одноглазый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но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взгляд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единственного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глаза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полон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мудрости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Народный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полководец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72" y="3901271"/>
            <a:ext cx="1234440" cy="1600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0233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7A6A52"/>
                </a:solidFill>
                <a:latin typeface="Calibri"/>
              </a:rPr>
              <a:t>Наполеон. Ж.-Л. Давид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4572" y="3901271"/>
            <a:ext cx="39319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74572" y="3901271"/>
            <a:ext cx="38100" cy="16002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84300" y="3965279"/>
            <a:ext cx="3703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1208"/>
                </a:solidFill>
                <a:latin typeface="Calibri"/>
              </a:rPr>
              <a:t>Наполеон</a:t>
            </a:r>
            <a:endParaRPr sz="14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84300" y="4221311"/>
            <a:ext cx="3749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3D3020"/>
                </a:solidFill>
                <a:latin typeface="Calibri"/>
              </a:rPr>
              <a:t>Маленький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рост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жирные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ляжки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самодовольная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улыбка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Толстой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«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снижает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»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великого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через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детали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тела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8106" y="1924812"/>
            <a:ext cx="5486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28106" y="1924812"/>
            <a:ext cx="38100" cy="868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834" y="1979676"/>
            <a:ext cx="525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1208"/>
                </a:solidFill>
                <a:latin typeface="Calibri"/>
              </a:rPr>
              <a:t>Старый</a:t>
            </a:r>
            <a:r>
              <a:rPr sz="1400"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1208"/>
                </a:solidFill>
                <a:latin typeface="Calibri"/>
              </a:rPr>
              <a:t>князь</a:t>
            </a:r>
            <a:r>
              <a:rPr sz="1400"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1208"/>
                </a:solidFill>
                <a:latin typeface="Calibri"/>
              </a:rPr>
              <a:t>Болконский</a:t>
            </a:r>
            <a:endParaRPr sz="14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834" y="223570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D3020"/>
                </a:solidFill>
                <a:latin typeface="Calibri"/>
              </a:rPr>
              <a:t>Маленькие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сухие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руки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блестящие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умные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глаза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из-под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нависших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бровей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несгибаемой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воли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острого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ума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8106" y="2839212"/>
            <a:ext cx="5486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28106" y="2839212"/>
            <a:ext cx="38100" cy="868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834" y="2894076"/>
            <a:ext cx="525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1208"/>
                </a:solidFill>
                <a:latin typeface="Calibri"/>
              </a:rPr>
              <a:t>Анна</a:t>
            </a:r>
            <a:r>
              <a:rPr sz="1400"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1208"/>
                </a:solidFill>
                <a:latin typeface="Calibri"/>
              </a:rPr>
              <a:t>Шерер</a:t>
            </a:r>
            <a:endParaRPr sz="14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37834" y="315010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D3020"/>
                </a:solidFill>
                <a:latin typeface="Calibri"/>
              </a:rPr>
              <a:t>«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Дежурная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улыбка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»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хозяйки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салона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маска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светской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любезности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которая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никогда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спадает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Лицемерие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через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28106" y="3753612"/>
            <a:ext cx="5486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28106" y="3753612"/>
            <a:ext cx="38100" cy="868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834" y="3808476"/>
            <a:ext cx="525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1208"/>
                </a:solidFill>
                <a:latin typeface="Calibri"/>
              </a:rPr>
              <a:t>Соня</a:t>
            </a:r>
            <a:r>
              <a:rPr sz="1400"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1208"/>
                </a:solidFill>
                <a:latin typeface="Calibri"/>
              </a:rPr>
              <a:t>Ростова</a:t>
            </a:r>
            <a:endParaRPr sz="14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37834" y="406450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D3020"/>
                </a:solidFill>
                <a:latin typeface="Calibri"/>
              </a:rPr>
              <a:t>Красивая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правильная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внешность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без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«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огня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» в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глазах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 «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Пустоцвет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»: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внешнее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совершенство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без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живой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души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8106" y="4668012"/>
            <a:ext cx="5486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28106" y="4668012"/>
            <a:ext cx="38100" cy="868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834" y="4722876"/>
            <a:ext cx="5257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1208"/>
                </a:solidFill>
                <a:latin typeface="Calibri"/>
              </a:rPr>
              <a:t>Маленькая</a:t>
            </a:r>
            <a:r>
              <a:rPr sz="1400"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1208"/>
                </a:solidFill>
                <a:latin typeface="Calibri"/>
              </a:rPr>
              <a:t>княгиня</a:t>
            </a:r>
            <a:r>
              <a:rPr sz="1400" b="1" i="0" dirty="0">
                <a:solidFill>
                  <a:srgbClr val="1A1208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1A1208"/>
                </a:solidFill>
                <a:latin typeface="Calibri"/>
              </a:rPr>
              <a:t>Лиза</a:t>
            </a:r>
            <a:endParaRPr sz="1400"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37834" y="4978908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D3020"/>
                </a:solidFill>
                <a:latin typeface="Calibri"/>
              </a:rPr>
              <a:t>Короткая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верхняя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губа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усиками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деталь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которую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Толстой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повторяет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каждый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раз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Светскость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как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суть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D3020"/>
                </a:solidFill>
                <a:latin typeface="Calibri"/>
              </a:rPr>
              <a:t>характера</a:t>
            </a:r>
            <a:r>
              <a:rPr sz="1200" b="0" i="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E028B75C-E346-DF01-A1EF-9B805D63E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18" y="1984261"/>
            <a:ext cx="1245576" cy="163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ЗАКОНОМЕРНОСТИ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Деталь портрета — её значение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828800" cy="566928"/>
          </a:xfrm>
          <a:prstGeom prst="rect">
            <a:avLst/>
          </a:prstGeom>
          <a:solidFill>
            <a:srgbClr val="EBE2D5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1755140"/>
            <a:ext cx="1701800" cy="46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D1D"/>
                </a:solidFill>
                <a:latin typeface="Calibri"/>
              </a:rPr>
              <a:t>Деталь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691640"/>
            <a:ext cx="4206240" cy="566928"/>
          </a:xfrm>
          <a:prstGeom prst="rect">
            <a:avLst/>
          </a:prstGeom>
          <a:solidFill>
            <a:srgbClr val="EBE2D5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07920" y="1755140"/>
            <a:ext cx="4079240" cy="46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D1D"/>
                </a:solidFill>
                <a:latin typeface="Calibri"/>
              </a:rPr>
              <a:t>Любимые герои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691640"/>
            <a:ext cx="5212080" cy="566928"/>
          </a:xfrm>
          <a:prstGeom prst="rect">
            <a:avLst/>
          </a:prstGeom>
          <a:solidFill>
            <a:srgbClr val="EBE2D5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9880" y="1755140"/>
            <a:ext cx="5085080" cy="465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D1D"/>
                </a:solidFill>
                <a:latin typeface="Calibri"/>
              </a:rPr>
              <a:t>Нелюбимые герои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58568"/>
            <a:ext cx="18288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400" y="2322068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1208"/>
                </a:solidFill>
                <a:latin typeface="Calibri"/>
              </a:rPr>
              <a:t>Глаза</a:t>
            </a:r>
            <a:endParaRPr b="1" i="0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31720" y="2258568"/>
            <a:ext cx="4206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07920" y="2322068"/>
            <a:ext cx="407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D3020"/>
                </a:solidFill>
                <a:latin typeface="Calibri"/>
              </a:rPr>
              <a:t>Лучистые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умные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живые</a:t>
            </a:r>
            <a:r>
              <a:rPr sz="1600" b="0" i="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D3020"/>
                </a:solidFill>
                <a:latin typeface="Calibri"/>
              </a:rPr>
              <a:t>добрые</a:t>
            </a:r>
            <a:endParaRPr sz="1600" b="0" i="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83680" y="2258568"/>
            <a:ext cx="521208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59880" y="2322068"/>
            <a:ext cx="508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Пустые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холодные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тусклые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неизменные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" y="2825496"/>
            <a:ext cx="182880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400" y="2888996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Улыбка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331720" y="2825496"/>
            <a:ext cx="420624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07920" y="2888996"/>
            <a:ext cx="407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Искренняя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редкая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живая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некрасивая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3680" y="2825496"/>
            <a:ext cx="521208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59880" y="2888996"/>
            <a:ext cx="508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Дежурная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обольстительная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неизменная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3392424"/>
            <a:ext cx="18288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3400" y="3455924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Общая</a:t>
            </a:r>
            <a:r>
              <a:rPr b="1" dirty="0">
                <a:solidFill>
                  <a:srgbClr val="1A1208"/>
                </a:solidFill>
                <a:latin typeface="Calibri"/>
              </a:rPr>
              <a:t> </a:t>
            </a:r>
            <a:r>
              <a:rPr b="1" dirty="0" err="1">
                <a:solidFill>
                  <a:srgbClr val="1A1208"/>
                </a:solidFill>
                <a:latin typeface="Calibri"/>
              </a:rPr>
              <a:t>красота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331720" y="3392424"/>
            <a:ext cx="4206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07920" y="3455924"/>
            <a:ext cx="407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Заурядная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или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некрасивая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внешность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83680" y="3392424"/>
            <a:ext cx="521208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9880" y="3455924"/>
            <a:ext cx="508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Броская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мраморная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скульптурная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3959352"/>
            <a:ext cx="182880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3400" y="4045204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Динамика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331720" y="3959352"/>
            <a:ext cx="420624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07920" y="4022852"/>
            <a:ext cx="407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Меняется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вместе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душой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83680" y="3959352"/>
            <a:ext cx="521208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59880" y="4022852"/>
            <a:ext cx="508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Застывший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статичный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портрет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4526280"/>
            <a:ext cx="18288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3400" y="4589780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Движения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331720" y="4526280"/>
            <a:ext cx="4206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07920" y="4589780"/>
            <a:ext cx="407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Живые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порывистые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неловкие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583680" y="4526280"/>
            <a:ext cx="521208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59880" y="4589780"/>
            <a:ext cx="508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Красивые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отточенные</a:t>
            </a:r>
            <a:r>
              <a:rPr sz="16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механические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093208"/>
            <a:ext cx="182880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3400" y="5156708"/>
            <a:ext cx="170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1A1208"/>
                </a:solidFill>
                <a:latin typeface="Calibri"/>
              </a:rPr>
              <a:t>Суть</a:t>
            </a:r>
            <a:endParaRPr b="1" dirty="0">
              <a:solidFill>
                <a:srgbClr val="1A1208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331720" y="5093208"/>
            <a:ext cx="420624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07920" y="5156708"/>
            <a:ext cx="4079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Одухотворена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изнутри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583680" y="5093208"/>
            <a:ext cx="5212080" cy="566928"/>
          </a:xfrm>
          <a:prstGeom prst="rect">
            <a:avLst/>
          </a:prstGeom>
          <a:solidFill>
            <a:srgbClr val="F8F4EE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59880" y="5156708"/>
            <a:ext cx="5085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скрывает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пустоту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или</a:t>
            </a:r>
            <a:r>
              <a:rPr sz="1600" dirty="0">
                <a:solidFill>
                  <a:srgbClr val="3D3020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3D3020"/>
                </a:solidFill>
                <a:latin typeface="Calibri"/>
              </a:rPr>
              <a:t>порок</a:t>
            </a:r>
            <a:endParaRPr sz="1600" dirty="0">
              <a:solidFill>
                <a:srgbClr val="3D302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ЗАКОНОМЕРНОСТИ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Динамика портрета: внешность меняется вместе с душой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7040" y="1606804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7B1D1D"/>
                </a:solidFill>
                <a:latin typeface="Calibri"/>
              </a:rPr>
              <a:t>Андрей</a:t>
            </a:r>
            <a:r>
              <a:rPr b="1" i="0" dirty="0">
                <a:solidFill>
                  <a:srgbClr val="7B1D1D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7B1D1D"/>
                </a:solidFill>
                <a:latin typeface="Calibri"/>
              </a:rPr>
              <a:t>Болконский</a:t>
            </a:r>
            <a:endParaRPr b="1" i="0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0223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5300" y="198424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4200" y="20477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3D3020"/>
                </a:solidFill>
                <a:latin typeface="Calibri"/>
              </a:rPr>
              <a:t>Скука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напряжённость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начале</a:t>
            </a:r>
            <a:endParaRPr sz="1400" b="0" i="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4795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5300" y="244144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4200" y="25049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Озарение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после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Аустерлица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9367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5300" y="289864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4200" y="29621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Оживление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любовь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к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Наташе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33939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5300" y="335584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4200" y="34193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Просветление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смертном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одре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28410" y="1614916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7B1D1D"/>
                </a:solidFill>
                <a:latin typeface="Calibri"/>
              </a:rPr>
              <a:t>Наташа</a:t>
            </a:r>
            <a:r>
              <a:rPr b="1" i="0" dirty="0">
                <a:solidFill>
                  <a:srgbClr val="7B1D1D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7B1D1D"/>
                </a:solidFill>
                <a:latin typeface="Calibri"/>
              </a:rPr>
              <a:t>Ростова</a:t>
            </a:r>
            <a:endParaRPr b="1" i="0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309360" y="20223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47460" y="198424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6360" y="20477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Детская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живость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сияние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глаз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09360" y="24795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36665" y="2466086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6360" y="25049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3D3020"/>
                </a:solidFill>
                <a:latin typeface="Calibri"/>
              </a:rPr>
              <a:t>Расцвет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красоты</a:t>
            </a:r>
            <a:r>
              <a:rPr sz="1400" b="0" i="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400" b="0" i="0" dirty="0" err="1">
                <a:solidFill>
                  <a:srgbClr val="3D3020"/>
                </a:solidFill>
                <a:latin typeface="Calibri"/>
              </a:rPr>
              <a:t>юности</a:t>
            </a:r>
            <a:endParaRPr sz="1400" b="0" i="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09360" y="29367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47460" y="289864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6360" y="29621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Угасание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после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предательства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09360" y="339394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47460" y="335584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36360" y="341934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Новый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свет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материнство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5300" y="3949684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7B1D1D"/>
                </a:solidFill>
                <a:latin typeface="Calibri"/>
              </a:rPr>
              <a:t>Пьер</a:t>
            </a:r>
            <a:r>
              <a:rPr b="1" i="0" dirty="0">
                <a:solidFill>
                  <a:srgbClr val="7B1D1D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7B1D1D"/>
                </a:solidFill>
                <a:latin typeface="Calibri"/>
              </a:rPr>
              <a:t>Безухов</a:t>
            </a:r>
            <a:endParaRPr b="1" i="0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439978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5300" y="43616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4200" y="44251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Растерянность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неловкость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485698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5300" y="48188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4200" y="48823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Плен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похудение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очищение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7200" y="531418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95300" y="52760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4200" y="53395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Возмужание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внутренний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стержень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771388"/>
            <a:ext cx="38100" cy="384048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95300" y="57332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4200" y="57967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Добрый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взгляд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+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уверенность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в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финале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47460" y="3982704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3D5A3E"/>
                </a:solidFill>
                <a:latin typeface="Calibri"/>
              </a:rPr>
              <a:t>Элен</a:t>
            </a:r>
            <a:r>
              <a:rPr b="1" i="0" dirty="0">
                <a:solidFill>
                  <a:srgbClr val="3D5A3E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3D5A3E"/>
                </a:solidFill>
                <a:latin typeface="Calibri"/>
              </a:rPr>
              <a:t>Курагина</a:t>
            </a:r>
            <a:r>
              <a:rPr b="1" i="0" dirty="0">
                <a:solidFill>
                  <a:srgbClr val="3D5A3E"/>
                </a:solidFill>
                <a:latin typeface="Calibri"/>
              </a:rPr>
              <a:t> — </a:t>
            </a:r>
            <a:r>
              <a:rPr b="1" i="0" dirty="0" err="1">
                <a:solidFill>
                  <a:srgbClr val="3D5A3E"/>
                </a:solidFill>
                <a:latin typeface="Calibri"/>
              </a:rPr>
              <a:t>контрпример</a:t>
            </a:r>
            <a:endParaRPr b="1" i="0" dirty="0">
              <a:solidFill>
                <a:srgbClr val="3D5A3E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309360" y="4399788"/>
            <a:ext cx="38100" cy="384048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47460" y="43616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36360" y="44251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Мраморная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первой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сцены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309360" y="4856988"/>
            <a:ext cx="38100" cy="384048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47460" y="48188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36360" y="48823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улыбка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через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десять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лет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309360" y="5314188"/>
            <a:ext cx="38100" cy="384048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47460" y="52760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36360" y="53395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Те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жесты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поза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309360" y="5771388"/>
            <a:ext cx="38100" cy="384048"/>
          </a:xfrm>
          <a:prstGeom prst="rect">
            <a:avLst/>
          </a:prstGeom>
          <a:solidFill>
            <a:srgbClr val="3D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347460" y="5733288"/>
            <a:ext cx="53949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36360" y="5796788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Неизменность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=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смерть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души</a:t>
            </a:r>
            <a:endParaRPr sz="1400" dirty="0">
              <a:solidFill>
                <a:srgbClr val="3D302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A6A52"/>
                </a:solidFill>
                <a:latin typeface="Calibri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7B1D1D"/>
                </a:solidFill>
                <a:latin typeface="Georgia"/>
              </a:rPr>
              <a:t>Портрет как философия Толстого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94360" cy="25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393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8100" cy="2011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1764792"/>
            <a:ext cx="3461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7B1D1D"/>
                </a:solidFill>
                <a:latin typeface="Calibri"/>
              </a:rPr>
              <a:t>Диалектика</a:t>
            </a:r>
            <a:r>
              <a:rPr b="1" dirty="0">
                <a:solidFill>
                  <a:srgbClr val="7B1D1D"/>
                </a:solidFill>
                <a:latin typeface="Calibri"/>
              </a:rPr>
              <a:t> </a:t>
            </a:r>
            <a:r>
              <a:rPr b="1" dirty="0" err="1">
                <a:solidFill>
                  <a:srgbClr val="7B1D1D"/>
                </a:solidFill>
                <a:latin typeface="Calibri"/>
              </a:rPr>
              <a:t>внешнего</a:t>
            </a:r>
            <a:r>
              <a:rPr b="1" dirty="0">
                <a:solidFill>
                  <a:srgbClr val="7B1D1D"/>
                </a:solidFill>
                <a:latin typeface="Calibri"/>
              </a:rPr>
              <a:t>
и </a:t>
            </a:r>
            <a:r>
              <a:rPr b="1" dirty="0" err="1">
                <a:solidFill>
                  <a:srgbClr val="7B1D1D"/>
                </a:solidFill>
                <a:latin typeface="Calibri"/>
              </a:rPr>
              <a:t>внутреннего</a:t>
            </a:r>
            <a:endParaRPr b="1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2331720"/>
            <a:ext cx="3461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Истинная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красота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всегда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проявление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внутренней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жизни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Физическое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совершенство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без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душевного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содержания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обман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пустота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6393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8100" cy="2011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1980" y="1764792"/>
            <a:ext cx="346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7B1D1D"/>
                </a:solidFill>
                <a:latin typeface="Calibri"/>
              </a:rPr>
              <a:t>Портрет</a:t>
            </a:r>
            <a:r>
              <a:rPr b="1" dirty="0">
                <a:solidFill>
                  <a:srgbClr val="7B1D1D"/>
                </a:solidFill>
                <a:latin typeface="Calibri"/>
              </a:rPr>
              <a:t> в </a:t>
            </a:r>
            <a:r>
              <a:rPr b="1" dirty="0" err="1">
                <a:solidFill>
                  <a:srgbClr val="7B1D1D"/>
                </a:solidFill>
                <a:latin typeface="Calibri"/>
              </a:rPr>
              <a:t>движении</a:t>
            </a:r>
            <a:endParaRPr b="1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1980" y="2331720"/>
            <a:ext cx="3461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3D3020"/>
                </a:solidFill>
                <a:latin typeface="Calibri"/>
              </a:rPr>
              <a:t>В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отличие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классицизма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у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Толстого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портрет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живой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процесс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Он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течёт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меняется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разрушается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и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возрождается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вместе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с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нравственным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путём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героя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691640"/>
            <a:ext cx="363931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691640"/>
            <a:ext cx="38100" cy="2011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2460" y="1764792"/>
            <a:ext cx="346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7B1D1D"/>
                </a:solidFill>
                <a:latin typeface="Calibri"/>
              </a:rPr>
              <a:t>Деталь</a:t>
            </a:r>
            <a:r>
              <a:rPr b="1" i="0" dirty="0">
                <a:solidFill>
                  <a:srgbClr val="7B1D1D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7B1D1D"/>
                </a:solidFill>
                <a:latin typeface="Calibri"/>
              </a:rPr>
              <a:t>как</a:t>
            </a:r>
            <a:r>
              <a:rPr b="1" i="0" dirty="0">
                <a:solidFill>
                  <a:srgbClr val="7B1D1D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7B1D1D"/>
                </a:solidFill>
                <a:latin typeface="Calibri"/>
              </a:rPr>
              <a:t>приговор</a:t>
            </a:r>
            <a:endParaRPr b="1" i="0" dirty="0">
              <a:solidFill>
                <a:srgbClr val="7B1D1D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52460" y="2331720"/>
            <a:ext cx="3461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3D3020"/>
                </a:solidFill>
                <a:latin typeface="Calibri"/>
              </a:rPr>
              <a:t>Одна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повторяющаяся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деталь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становится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нравственной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характеристикой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—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точнее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любого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прямого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психологического</a:t>
            </a:r>
            <a:r>
              <a:rPr sz="1400" dirty="0">
                <a:solidFill>
                  <a:srgbClr val="3D3020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3D3020"/>
                </a:solidFill>
                <a:latin typeface="Calibri"/>
              </a:rPr>
              <a:t>анализа</a:t>
            </a:r>
            <a:r>
              <a:rPr sz="1400" dirty="0">
                <a:solidFill>
                  <a:srgbClr val="3D3020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11274552" cy="868680"/>
          </a:xfrm>
          <a:prstGeom prst="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38100" cy="86868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977639"/>
            <a:ext cx="10817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1A1208"/>
                </a:solidFill>
                <a:latin typeface="Georgia"/>
              </a:rPr>
              <a:t>«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Толстой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видит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человека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насквозь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—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через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одну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черту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лица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.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Его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портрет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—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это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диагноз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 </a:t>
            </a:r>
            <a:r>
              <a:rPr sz="1600" b="0" i="1" dirty="0" err="1">
                <a:solidFill>
                  <a:srgbClr val="1A1208"/>
                </a:solidFill>
                <a:latin typeface="Georgia"/>
              </a:rPr>
              <a:t>души</a:t>
            </a:r>
            <a:r>
              <a:rPr sz="1600" b="0" i="1" dirty="0">
                <a:solidFill>
                  <a:srgbClr val="1A1208"/>
                </a:solidFill>
                <a:latin typeface="Georgia"/>
              </a:rPr>
              <a:t>.»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E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0E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0" y="1691640"/>
            <a:ext cx="2103120" cy="25400"/>
          </a:xfrm>
          <a:prstGeom prst="rect">
            <a:avLst/>
          </a:prstGeom>
          <a:solidFill>
            <a:srgbClr val="B5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5E6C8"/>
                </a:solidFill>
                <a:latin typeface="Georgia"/>
              </a:rPr>
              <a:t>«Война и мир»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4A84B"/>
                </a:solidFill>
                <a:latin typeface="Georgia"/>
              </a:rPr>
              <a:t>Портрет — это не внешность.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4A84B"/>
                </a:solidFill>
                <a:latin typeface="Georgia"/>
              </a:rPr>
              <a:t>Портрет — это душа, увиденная глазами художника.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794760"/>
            <a:ext cx="2103120" cy="25400"/>
          </a:xfrm>
          <a:prstGeom prst="rect">
            <a:avLst/>
          </a:prstGeom>
          <a:solidFill>
            <a:srgbClr val="B58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6A52"/>
                </a:solidFill>
                <a:latin typeface="Calibri"/>
              </a:rPr>
              <a:t>Л. Н. Толстой  ·  1869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1464</Words>
  <Application>Microsoft Office PowerPoint</Application>
  <PresentationFormat>Произвольный</PresentationFormat>
  <Paragraphs>184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borrasque</cp:lastModifiedBy>
  <cp:revision>3</cp:revision>
  <dcterms:created xsi:type="dcterms:W3CDTF">2013-01-27T09:14:16Z</dcterms:created>
  <dcterms:modified xsi:type="dcterms:W3CDTF">2026-05-05T19:27:29Z</dcterms:modified>
  <cp:category/>
</cp:coreProperties>
</file>