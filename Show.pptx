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62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Индивидуальный проект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50800" tIns="25400" rIns="50800" bIns="25400"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r>
              <a:t>Министерство просвещения Российской Федерации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r>
              <a:t>Министерство образования Республики Мордовия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r>
              <a:t>ГБОУ РМ «Республиканский лицей для одарённых детей»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endParaRPr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r>
              <a:t>Тема: «Создание нейросети для распознавания жестов»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endParaRPr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r>
              <a:t>Выполнил: Антонов Андрей, 10 «В» класс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191919"/>
                </a:solidFill>
                <a:latin typeface="Times New Roman"/>
              </a:defRPr>
            </a:pPr>
            <a:r>
              <a:t>Руководитель: Рыбаков В.В., учитель информатики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Содержание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1. Введение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2. Теоретическая часть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3. Вывод по теоретической части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4. Практическая часть проекта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5. Вывод по практической части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6. Заключение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7. Список литературы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Введение: 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Технологии компьютерного зрения и ИИ активно внедряются в образование, медицину и цифровые сервисы.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Распознавание жестов руки позволяет сделать взаимодействие человека с компьютером более естественным.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Существующие решения часто сложны в настройке, требовательны к оборудованию или неудобны для учебных задач.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Проект нацелен на доступный и практико-ориентированный инструмент распознавания жестов в реальном времени.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Цель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Цель: разработать систему распознавания жестов на Python с PyTorch и ResNet18.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Система включает: подготовку датасета, обучение, тестирование и live-инференс через веб-камеру.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Ключевые задачи: анализ предметной области, проектирование архитектуры модулей, реализация кода.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Дополнительно: тестирование точности и стабильности, подготовка инструкции по запуску и развитию.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Теория: системы распознавания жестов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Система распознавания жестов анализирует изображение/видеопоток и определяет жест пользователя.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Классификация: статические изображения и видеопоследовательности в реальном времени.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По сигналу: RGB-камеры, Depth-камеры, сенсорные устройства (перчатки/датчики).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По моделям: классические CV-методы и нейросетевые подходы (CNN, гибридные модели).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В проекте используется камерный RGB-подход и нейросетевая классификация.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Теория: применение и анализ решений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Области применения: бесконтактные интерфейсы, обучение, инклюзивные технологии, интерактивные системы.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Коммерческие SDK дают высокое качество, но часто закрыты и ограничены по кастомизации.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Исследовательские прототипы требуют сложной настройки и значительных вычислительных ресурсов.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Учебные open-source проекты часто покрывают только часть ML-цикла.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Проект объединяет весь цикл: датасет → обучение → инференс → live-демонстрация.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Инструменты и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Python — основной язык разработки, удобный для ML и CV.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PyTorch — построение и обучение нейросетевой модели.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torchvision — архитектура ResNet18, преобразования и загрузка данных.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OpenCV — захват видеопотока и визуализация результатов в реальном времени.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Pillow, PyArrow (.parquet), multiprocessing — обработка данных и ускорение подготовки датасета.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Практика: используемые библиотеки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583680" cy="16823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/>
              <a:t>В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применяются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: torch, </a:t>
            </a:r>
            <a:r>
              <a:rPr dirty="0" err="1"/>
              <a:t>torch.nn</a:t>
            </a:r>
            <a:r>
              <a:rPr dirty="0"/>
              <a:t>, </a:t>
            </a:r>
            <a:r>
              <a:rPr dirty="0" err="1"/>
              <a:t>torch.optim</a:t>
            </a:r>
            <a:r>
              <a:rPr dirty="0"/>
              <a:t>, </a:t>
            </a:r>
            <a:r>
              <a:rPr dirty="0" err="1"/>
              <a:t>torchvision</a:t>
            </a:r>
            <a:r>
              <a:rPr dirty="0"/>
              <a:t> (models, datasets, transforms), </a:t>
            </a:r>
            <a:r>
              <a:rPr dirty="0" err="1"/>
              <a:t>opencv</a:t>
            </a:r>
            <a:r>
              <a:rPr dirty="0"/>
              <a:t>-python (</a:t>
            </a:r>
            <a:r>
              <a:rPr dirty="0" err="1"/>
              <a:t>cv2</a:t>
            </a:r>
            <a:r>
              <a:rPr dirty="0"/>
              <a:t>), </a:t>
            </a:r>
            <a:r>
              <a:rPr dirty="0" err="1"/>
              <a:t>PIL</a:t>
            </a:r>
            <a:r>
              <a:rPr dirty="0"/>
              <a:t>, </a:t>
            </a:r>
            <a:r>
              <a:rPr dirty="0" err="1"/>
              <a:t>pyarrow.parquet</a:t>
            </a:r>
            <a:r>
              <a:rPr dirty="0"/>
              <a:t> и multiprocessing.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библиотек</a:t>
            </a:r>
            <a:r>
              <a:rPr dirty="0"/>
              <a:t>: </a:t>
            </a:r>
            <a:r>
              <a:rPr dirty="0" err="1"/>
              <a:t>обучение</a:t>
            </a:r>
            <a:r>
              <a:rPr dirty="0"/>
              <a:t> и </a:t>
            </a:r>
            <a:r>
              <a:rPr dirty="0" err="1"/>
              <a:t>инференс</a:t>
            </a:r>
            <a:r>
              <a:rPr dirty="0"/>
              <a:t> </a:t>
            </a:r>
            <a:r>
              <a:rPr dirty="0" err="1"/>
              <a:t>нейросети</a:t>
            </a:r>
            <a:r>
              <a:rPr dirty="0"/>
              <a:t>,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изображений</a:t>
            </a:r>
            <a:r>
              <a:rPr dirty="0"/>
              <a:t>, </a:t>
            </a:r>
            <a:r>
              <a:rPr dirty="0" err="1"/>
              <a:t>чтение</a:t>
            </a:r>
            <a:r>
              <a:rPr dirty="0"/>
              <a:t> </a:t>
            </a:r>
            <a:r>
              <a:rPr dirty="0" err="1"/>
              <a:t>исходного</a:t>
            </a:r>
            <a:r>
              <a:rPr dirty="0"/>
              <a:t> </a:t>
            </a:r>
            <a:r>
              <a:rPr dirty="0" err="1"/>
              <a:t>датасета</a:t>
            </a:r>
            <a:r>
              <a:rPr dirty="0"/>
              <a:t> и </a:t>
            </a:r>
            <a:r>
              <a:rPr dirty="0" err="1"/>
              <a:t>ускоренная</a:t>
            </a:r>
            <a:r>
              <a:rPr dirty="0"/>
              <a:t> </a:t>
            </a:r>
            <a:r>
              <a:rPr dirty="0" err="1"/>
              <a:t>конвертация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720754" y="3048577"/>
            <a:ext cx="6257925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Подготовка структуры датасета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583680" cy="5303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Для обучения используется структура папок train/ и val/, внутри которых хранятся директории по классам жестов.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Функция подготовки структуры автоматически создаёт необходимые каталоги при запуске.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Такой формат обеспечивает корректную работу ImageFolder и упрощает последующую загрузку данных.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85656" y="2979852"/>
            <a:ext cx="6257925" cy="972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Конвертация данных из Parquet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583680" cy="5303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Исходные изображения извлекаются из файлов .parquet, после чего группируются по классам и перемешиваются.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Для каждого класса формируется разбиение на обучающую и валидационную части в заданной пропорции.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Сохранение в JPEG выполняется параллельно через multiprocessing для ускорения подготовки большого набора данных.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2849419"/>
            <a:ext cx="3826308" cy="34421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Предобработка и загрузка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29608"/>
            <a:ext cx="8386618" cy="121161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подачей</a:t>
            </a:r>
            <a:r>
              <a:rPr dirty="0"/>
              <a:t> в </a:t>
            </a:r>
            <a:r>
              <a:rPr dirty="0" err="1"/>
              <a:t>нейросеть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 </a:t>
            </a:r>
            <a:r>
              <a:rPr dirty="0" err="1"/>
              <a:t>приводятся</a:t>
            </a:r>
            <a:r>
              <a:rPr dirty="0"/>
              <a:t> к </a:t>
            </a:r>
            <a:r>
              <a:rPr dirty="0" err="1"/>
              <a:t>единому</a:t>
            </a:r>
            <a:r>
              <a:rPr dirty="0"/>
              <a:t> </a:t>
            </a:r>
            <a:r>
              <a:rPr dirty="0" err="1"/>
              <a:t>размеру</a:t>
            </a:r>
            <a:r>
              <a:rPr dirty="0"/>
              <a:t> </a:t>
            </a:r>
            <a:r>
              <a:rPr dirty="0" err="1"/>
              <a:t>224x224</a:t>
            </a:r>
            <a:r>
              <a:rPr dirty="0"/>
              <a:t>, </a:t>
            </a:r>
            <a:endParaRPr lang="ru-RU" dirty="0" smtClean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 smtClean="0"/>
              <a:t>переводятся</a:t>
            </a:r>
            <a:r>
              <a:rPr dirty="0" smtClean="0"/>
              <a:t> </a:t>
            </a:r>
            <a:r>
              <a:rPr dirty="0"/>
              <a:t>в </a:t>
            </a:r>
            <a:r>
              <a:rPr dirty="0" err="1"/>
              <a:t>тензор</a:t>
            </a:r>
            <a:r>
              <a:rPr dirty="0"/>
              <a:t> и </a:t>
            </a:r>
            <a:r>
              <a:rPr dirty="0" err="1"/>
              <a:t>нормализуются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стандарту</a:t>
            </a:r>
            <a:r>
              <a:rPr dirty="0"/>
              <a:t> ImageNet.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и </a:t>
            </a:r>
            <a:r>
              <a:rPr dirty="0" err="1"/>
              <a:t>валидации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DataLoader</a:t>
            </a:r>
            <a:r>
              <a:rPr dirty="0"/>
              <a:t> с </a:t>
            </a:r>
            <a:r>
              <a:rPr dirty="0" err="1"/>
              <a:t>батчами</a:t>
            </a:r>
            <a:r>
              <a:rPr dirty="0"/>
              <a:t>; </a:t>
            </a:r>
            <a:r>
              <a:rPr dirty="0" err="1"/>
              <a:t>обучающая</a:t>
            </a:r>
            <a:r>
              <a:rPr dirty="0"/>
              <a:t> </a:t>
            </a:r>
            <a:r>
              <a:rPr dirty="0" err="1" smtClean="0"/>
              <a:t>выборка</a:t>
            </a:r>
            <a:endParaRPr lang="ru-RU" dirty="0" smtClean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 smtClean="0"/>
              <a:t>перемешивается</a:t>
            </a:r>
            <a:r>
              <a:rPr dirty="0"/>
              <a:t>, </a:t>
            </a:r>
            <a:r>
              <a:rPr dirty="0" err="1"/>
              <a:t>валидационная</a:t>
            </a:r>
            <a:r>
              <a:rPr dirty="0"/>
              <a:t> — </a:t>
            </a:r>
            <a:r>
              <a:rPr dirty="0" err="1"/>
              <a:t>нет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2341222"/>
            <a:ext cx="6257925" cy="1998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Архитектура модели и обучение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338560" cy="11919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/>
              <a:t>В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ResNet18</a:t>
            </a:r>
            <a:r>
              <a:rPr dirty="0"/>
              <a:t> с </a:t>
            </a:r>
            <a:r>
              <a:rPr dirty="0" err="1"/>
              <a:t>предобученными</a:t>
            </a:r>
            <a:r>
              <a:rPr dirty="0"/>
              <a:t> </a:t>
            </a:r>
            <a:r>
              <a:rPr dirty="0" err="1"/>
              <a:t>весами</a:t>
            </a:r>
            <a:r>
              <a:rPr dirty="0"/>
              <a:t> ImageNet</a:t>
            </a:r>
            <a:r>
              <a:rPr dirty="0" smtClean="0"/>
              <a:t>;</a:t>
            </a:r>
            <a:endParaRPr lang="ru-RU" dirty="0" smtClean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 smtClean="0"/>
              <a:t>последний</a:t>
            </a:r>
            <a:r>
              <a:rPr dirty="0" smtClean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заменяется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классов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датасета</a:t>
            </a:r>
            <a:r>
              <a:rPr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Обучение</a:t>
            </a:r>
            <a:r>
              <a:rPr dirty="0"/>
              <a:t> </a:t>
            </a:r>
            <a:r>
              <a:rPr dirty="0" err="1"/>
              <a:t>проводится</a:t>
            </a:r>
            <a:r>
              <a:rPr dirty="0"/>
              <a:t> с </a:t>
            </a:r>
            <a:r>
              <a:rPr dirty="0" err="1"/>
              <a:t>функцией</a:t>
            </a:r>
            <a:r>
              <a:rPr dirty="0"/>
              <a:t> </a:t>
            </a:r>
            <a:r>
              <a:rPr dirty="0" err="1"/>
              <a:t>потерь</a:t>
            </a:r>
            <a:r>
              <a:rPr dirty="0"/>
              <a:t> </a:t>
            </a:r>
            <a:r>
              <a:rPr dirty="0" err="1"/>
              <a:t>CrossEntropyLoss</a:t>
            </a:r>
            <a:r>
              <a:rPr dirty="0"/>
              <a:t> и </a:t>
            </a:r>
            <a:r>
              <a:rPr dirty="0" err="1"/>
              <a:t>оптимизатором</a:t>
            </a:r>
            <a:r>
              <a:rPr dirty="0"/>
              <a:t> Adam, </a:t>
            </a:r>
            <a:endParaRPr lang="ru-RU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 smtClean="0"/>
              <a:t>что</a:t>
            </a:r>
            <a:r>
              <a:rPr dirty="0" smtClean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многоклассовой</a:t>
            </a:r>
            <a:r>
              <a:rPr dirty="0"/>
              <a:t> </a:t>
            </a:r>
            <a:r>
              <a:rPr dirty="0" err="1"/>
              <a:t>классификации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2342295"/>
            <a:ext cx="6257925" cy="76962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57199" y="3205104"/>
            <a:ext cx="6257925" cy="715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Сохранение модели и live-режим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583680" cy="1140697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сохраняются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и </a:t>
            </a:r>
            <a:r>
              <a:rPr dirty="0" err="1"/>
              <a:t>отображение</a:t>
            </a:r>
            <a:r>
              <a:rPr dirty="0"/>
              <a:t> </a:t>
            </a:r>
            <a:r>
              <a:rPr dirty="0" err="1"/>
              <a:t>class_to_idx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загрузке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восстановить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классов</a:t>
            </a:r>
            <a:r>
              <a:rPr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/>
              <a:t>В live-</a:t>
            </a:r>
            <a:r>
              <a:rPr dirty="0" err="1"/>
              <a:t>режиме</a:t>
            </a:r>
            <a:r>
              <a:rPr dirty="0"/>
              <a:t> </a:t>
            </a:r>
            <a:r>
              <a:rPr dirty="0" err="1"/>
              <a:t>кадры</a:t>
            </a:r>
            <a:r>
              <a:rPr dirty="0"/>
              <a:t> с </a:t>
            </a:r>
            <a:r>
              <a:rPr dirty="0" err="1"/>
              <a:t>веб-камеры</a:t>
            </a:r>
            <a:r>
              <a:rPr dirty="0"/>
              <a:t> </a:t>
            </a:r>
            <a:r>
              <a:rPr dirty="0" err="1"/>
              <a:t>проходят</a:t>
            </a:r>
            <a:r>
              <a:rPr dirty="0"/>
              <a:t> </a:t>
            </a:r>
            <a:r>
              <a:rPr dirty="0" err="1"/>
              <a:t>предобработку</a:t>
            </a:r>
            <a:r>
              <a:rPr dirty="0"/>
              <a:t>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класс</a:t>
            </a:r>
            <a:r>
              <a:rPr dirty="0"/>
              <a:t> и </a:t>
            </a:r>
            <a:r>
              <a:rPr dirty="0" err="1"/>
              <a:t>уверенность</a:t>
            </a:r>
            <a:r>
              <a:rPr dirty="0"/>
              <a:t> </a:t>
            </a:r>
            <a:r>
              <a:rPr dirty="0" err="1"/>
              <a:t>предсказания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2322945"/>
            <a:ext cx="2736418" cy="854277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" y="3293262"/>
            <a:ext cx="2714856" cy="1843809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3508288" y="2322945"/>
            <a:ext cx="3715472" cy="1770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Визуализация результата и завершение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1338560" cy="86985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распознавания</a:t>
            </a:r>
            <a:r>
              <a:rPr dirty="0"/>
              <a:t> </a:t>
            </a:r>
            <a:r>
              <a:rPr dirty="0" err="1"/>
              <a:t>выводится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кадра</a:t>
            </a:r>
            <a:r>
              <a:rPr dirty="0"/>
              <a:t> в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: </a:t>
            </a: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жеста</a:t>
            </a:r>
            <a:r>
              <a:rPr dirty="0"/>
              <a:t> и </a:t>
            </a:r>
            <a:r>
              <a:rPr dirty="0" err="1"/>
              <a:t>вероятность</a:t>
            </a:r>
            <a:r>
              <a:rPr dirty="0"/>
              <a:t> (confidence).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rPr dirty="0" err="1"/>
              <a:t>Выход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клавише</a:t>
            </a:r>
            <a:r>
              <a:rPr dirty="0"/>
              <a:t> q,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освобождаются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камеры</a:t>
            </a:r>
            <a:r>
              <a:rPr dirty="0"/>
              <a:t> и </a:t>
            </a:r>
            <a:r>
              <a:rPr dirty="0" err="1"/>
              <a:t>закрываются</a:t>
            </a:r>
            <a:r>
              <a:rPr dirty="0"/>
              <a:t> </a:t>
            </a:r>
            <a:r>
              <a:rPr dirty="0" err="1"/>
              <a:t>окна</a:t>
            </a:r>
            <a:r>
              <a:rPr dirty="0"/>
              <a:t> </a:t>
            </a:r>
            <a:r>
              <a:rPr dirty="0" err="1"/>
              <a:t>OpenCV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2021810"/>
            <a:ext cx="6257925" cy="3608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Вывод по практической части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Подготовлен датасет из исходных Parquet-данных и сформированы выборки train/val.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Обучена сверточная нейросеть на базе ResNet18 для многоклассового распознавания жестов.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Реализовано распознавание в реальном времени с веб-камеры с отображением класса и уверенности.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Система подходит как база для учебных и демонстрационных проектов по компьютерному зрению.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Цель проекта достигнута: реализована система распознавания жестов для офлайн- и live-режима.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Выполнен полный ML-цикл: анализ области, подготовка данных, обучение, тестирование, внедрение.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Проект имеет практическую ценность как учебный инструмент и стартовая платформа для развития.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Перспективы: requirements.txt, сохранение лучшей модели, аугментации, early stopping, ONNX/TorchScript.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1414"/>
                </a:solidFill>
                <a:latin typeface="Times New Roman"/>
              </a:defRPr>
            </a:pPr>
            <a:r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50800" tIns="25400" rIns="50800" bIns="2540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1. Гудфеллоу И., Бенджио Й., Курвилль А. Глубокое обучение. — М.: ДМК Пресс, 2018.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2. Python — официальный сайт: https://www.python.org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3. PyTorch — документация: https://pytorch.org/docs/stable/index.html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4. torchvision — документация: https://pytorch.org/vision/stable/index.html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5. OpenCV — документация: https://docs.opencv.org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6. Pillow — документация: https://pillow.readthedocs.io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7. NumPy — документация: https://numpy.org/doc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8. Habr — статьи по CV/ML: https://habr.com/ru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600">
                <a:solidFill>
                  <a:srgbClr val="191919"/>
                </a:solidFill>
                <a:latin typeface="Times New Roman"/>
              </a:defRPr>
            </a:pPr>
            <a:r>
              <a:t>9. Kaggle — датасеты и материалы: https://www.kaggle.com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889</Words>
  <Application>Microsoft Office PowerPoint</Application>
  <PresentationFormat>Экран (4:3)</PresentationFormat>
  <Paragraphs>92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Индивидуальный проект</vt:lpstr>
      <vt:lpstr>Содержание</vt:lpstr>
      <vt:lpstr>Введение: актуальность</vt:lpstr>
      <vt:lpstr>Цель и задачи проекта</vt:lpstr>
      <vt:lpstr>Теория: системы распознавания жестов</vt:lpstr>
      <vt:lpstr>Теория: применение и анализ решений</vt:lpstr>
      <vt:lpstr>Инструменты и технологии</vt:lpstr>
      <vt:lpstr>Практика: используемые библиотеки</vt:lpstr>
      <vt:lpstr>Подготовка структуры датасета</vt:lpstr>
      <vt:lpstr>Конвертация данных из Parquet</vt:lpstr>
      <vt:lpstr>Предобработка и загрузка данных</vt:lpstr>
      <vt:lpstr>Архитектура модели и обучение</vt:lpstr>
      <vt:lpstr>Сохранение модели и live-режим</vt:lpstr>
      <vt:lpstr>Визуализация результата и завершение</vt:lpstr>
      <vt:lpstr>Вывод по практической части</vt:lpstr>
      <vt:lpstr>Заключение</vt:lpstr>
      <vt:lpstr>Список литературы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</dc:title>
  <dc:subject/>
  <dc:creator/>
  <cp:keywords/>
  <dc:description>generated using python-pptx</dc:description>
  <cp:lastModifiedBy>Учетная запись Майкрософт</cp:lastModifiedBy>
  <cp:revision>3</cp:revision>
  <dcterms:created xsi:type="dcterms:W3CDTF">2013-01-27T09:14:16Z</dcterms:created>
  <dcterms:modified xsi:type="dcterms:W3CDTF">2026-04-27T15:56:55Z</dcterms:modified>
  <cp:category/>
</cp:coreProperties>
</file>