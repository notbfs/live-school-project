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-548640"/>
            <a:ext cx="2834640" cy="2286000"/>
          </a:xfrm>
          <a:prstGeom prst="ellipse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457200" y="5120640"/>
            <a:ext cx="3108960" cy="2011680"/>
          </a:xfrm>
          <a:prstGeom prst="ellipse">
            <a:avLst/>
          </a:prstGeom>
          <a:solidFill>
            <a:srgbClr val="7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2011680"/>
            <a:ext cx="1463040" cy="1463040"/>
          </a:xfrm>
          <a:prstGeom prst="ellipse">
            <a:avLst/>
          </a:prstGeom>
          <a:solidFill>
            <a:srgbClr val="C7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4960" y="822960"/>
            <a:ext cx="13716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>
                <a:solidFill>
                  <a:srgbClr val="EDF2FF"/>
                </a:solidFill>
                <a:latin typeface="Arial"/>
              </a:rPr>
              <a:t>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14984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>
                <a:solidFill>
                  <a:srgbClr val="EDF2FF"/>
                </a:solidFill>
                <a:latin typeface="Georgia"/>
              </a:rPr>
              <a:t>Среда обучения навыкам
за 20 часов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657600"/>
            <a:ext cx="73152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B9C3DF"/>
                </a:solidFill>
                <a:latin typeface="Arial"/>
              </a:rPr>
              <a:t>Учеваткин Е.У. · 10 класс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069080"/>
            <a:ext cx="8961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 dirty="0" err="1">
                <a:solidFill>
                  <a:srgbClr val="73809F"/>
                </a:solidFill>
                <a:latin typeface="Arial"/>
              </a:rPr>
              <a:t>Индивидуальный</a:t>
            </a:r>
            <a:r>
              <a:rPr sz="1100" b="0" dirty="0">
                <a:solidFill>
                  <a:srgbClr val="73809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3809F"/>
                </a:solidFill>
                <a:latin typeface="Arial"/>
              </a:rPr>
              <a:t>проект</a:t>
            </a:r>
            <a:r>
              <a:rPr sz="1100" b="0" dirty="0">
                <a:solidFill>
                  <a:srgbClr val="73809F"/>
                </a:solidFill>
                <a:latin typeface="Arial"/>
              </a:rPr>
              <a:t> · </a:t>
            </a:r>
            <a:r>
              <a:rPr sz="1100" b="0" dirty="0" err="1">
                <a:solidFill>
                  <a:srgbClr val="73809F"/>
                </a:solidFill>
                <a:latin typeface="Arial"/>
              </a:rPr>
              <a:t>Научный</a:t>
            </a:r>
            <a:r>
              <a:rPr sz="1100" b="0" dirty="0">
                <a:solidFill>
                  <a:srgbClr val="73809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73809F"/>
                </a:solidFill>
                <a:latin typeface="Arial"/>
              </a:rPr>
              <a:t>руководитель</a:t>
            </a:r>
            <a:r>
              <a:rPr sz="1100" b="0" dirty="0">
                <a:solidFill>
                  <a:srgbClr val="73809F"/>
                </a:solidFill>
                <a:latin typeface="Arial"/>
              </a:rPr>
              <a:t>: 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7BE0A4"/>
                </a:solidFill>
                <a:latin typeface="Arial"/>
              </a:rPr>
              <a:t>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80467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EDF2FF"/>
                </a:solidFill>
                <a:latin typeface="Georgia"/>
              </a:rPr>
              <a:t>Почему эта тема важна сейчас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691640" cy="132588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6EA8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64208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EDF2FF"/>
                </a:solidFill>
                <a:latin typeface="Arial"/>
              </a:rPr>
              <a:t>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6916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6EA8FE"/>
                </a:solidFill>
                <a:latin typeface="Arial"/>
              </a:rPr>
              <a:t>+900 млн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59152"/>
            <a:ext cx="14630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B9C3DF"/>
                </a:solidFill>
                <a:latin typeface="Arial"/>
              </a:rPr>
              <a:t>пользователей EdTech
к 2030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554480"/>
            <a:ext cx="1691640" cy="132588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6EA8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51760" y="1664208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EDF2FF"/>
                </a:solidFill>
                <a:latin typeface="Arial"/>
              </a:rP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920240"/>
            <a:ext cx="16916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7BE0A4"/>
                </a:solidFill>
                <a:latin typeface="Arial"/>
              </a:rPr>
              <a:t>24/7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359152"/>
            <a:ext cx="14630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B9C3DF"/>
                </a:solidFill>
                <a:latin typeface="Arial"/>
              </a:rPr>
              <a:t>доступ к обучению
онлайн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554480"/>
            <a:ext cx="1691640" cy="132588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6EA8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664208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EDF2FF"/>
                </a:solidFill>
                <a:latin typeface="Arial"/>
              </a:rPr>
              <a:t>⏱️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16916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6EA8FE"/>
                </a:solidFill>
                <a:latin typeface="Arial"/>
              </a:rPr>
              <a:t>20 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359152"/>
            <a:ext cx="14630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B9C3DF"/>
                </a:solidFill>
                <a:latin typeface="Arial"/>
              </a:rPr>
              <a:t>достаточно для старта
в навыке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600200"/>
            <a:ext cx="4663440" cy="274320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C7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3720" y="1874519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9C3DF"/>
                </a:solidFill>
                <a:latin typeface="Arial"/>
              </a:defRPr>
            </a:pPr>
            <a:r>
              <a:t>Онлайн-обучение стало массовым и доступным.</a:t>
            </a:r>
          </a:p>
          <a:p>
            <a:pPr>
              <a:defRPr sz="1600">
                <a:solidFill>
                  <a:srgbClr val="B9C3DF"/>
                </a:solidFill>
                <a:latin typeface="Arial"/>
              </a:defRPr>
            </a:pPr>
            <a:r>
              <a:t>Пользователю нужен короткий и понятный маршрут до первого результата.</a:t>
            </a:r>
          </a:p>
          <a:p>
            <a:pPr>
              <a:defRPr sz="1600">
                <a:solidFill>
                  <a:srgbClr val="B9C3DF"/>
                </a:solidFill>
                <a:latin typeface="Arial"/>
              </a:defRPr>
            </a:pPr>
            <a:r>
              <a:t>Концепция 20 часов хорошо подходит для старта в новом навыке.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7BE0A4"/>
                </a:solidFill>
                <a:latin typeface="Arial"/>
              </a:rPr>
              <a:t>ОБЪЕКТ И ПРЕДМЕТ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80467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EDF2FF"/>
                </a:solidFill>
                <a:latin typeface="Georgia"/>
              </a:rPr>
              <a:t>Что именно исследуется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291840" cy="196596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6EA8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274320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Arial"/>
              </a:rPr>
              <a:t>Объект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27432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B9C3DF"/>
                </a:solidFill>
                <a:latin typeface="Arial"/>
              </a:rPr>
              <a:t>Процесс освоения нового навыка в цифровой среде.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196596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7BE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874519"/>
            <a:ext cx="274320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/>
            <a:r>
              <a:rPr sz="1800" b="1">
                <a:solidFill>
                  <a:srgbClr val="7BE0A4"/>
                </a:solidFill>
                <a:latin typeface="Arial"/>
              </a:rPr>
              <a:t>Предмет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240280"/>
            <a:ext cx="2743200" cy="9144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700" b="0">
                <a:solidFill>
                  <a:srgbClr val="B9C3DF"/>
                </a:solidFill>
                <a:latin typeface="Arial"/>
              </a:rPr>
              <a:t>Веб-платформа для структурированного обучения по концепции «20 часов».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2743200" cy="164592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C7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057400"/>
            <a:ext cx="23774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200" b="1" dirty="0">
                <a:solidFill>
                  <a:srgbClr val="EDF2FF"/>
                </a:solidFill>
                <a:latin typeface="Arial"/>
              </a:rPr>
              <a:t>👨‍💻 → 💻 → 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97480"/>
            <a:ext cx="2377440" cy="32004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/>
            <a:r>
              <a:rPr sz="1000" b="0">
                <a:solidFill>
                  <a:srgbClr val="B9C3DF"/>
                </a:solidFill>
                <a:latin typeface="Arial"/>
              </a:rPr>
              <a:t>пользователь → платформа → навык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dirty="0">
                <a:solidFill>
                  <a:srgbClr val="7BE0A4"/>
                </a:solidFill>
                <a:latin typeface="Arial"/>
              </a:rPr>
              <a:t>ЦЕЛЬ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08076"/>
            <a:ext cx="8046720" cy="7315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2600" b="1" dirty="0" err="1">
                <a:solidFill>
                  <a:srgbClr val="EDF2FF"/>
                </a:solidFill>
                <a:latin typeface="Georgia"/>
              </a:rPr>
              <a:t>Разработать</a:t>
            </a:r>
            <a:r>
              <a:rPr sz="2600" b="1" dirty="0">
                <a:solidFill>
                  <a:srgbClr val="EDF2FF"/>
                </a:solidFill>
                <a:latin typeface="Georgia"/>
              </a:rPr>
              <a:t> и </a:t>
            </a:r>
            <a:r>
              <a:rPr sz="2600" b="1" dirty="0" err="1">
                <a:solidFill>
                  <a:srgbClr val="EDF2FF"/>
                </a:solidFill>
                <a:latin typeface="Georgia"/>
              </a:rPr>
              <a:t>реализовать</a:t>
            </a:r>
            <a:r>
              <a:rPr sz="2600" b="1" dirty="0">
                <a:solidFill>
                  <a:srgbClr val="EDF2FF"/>
                </a:solidFill>
                <a:latin typeface="Georgia"/>
              </a:rPr>
              <a:t> </a:t>
            </a:r>
            <a:r>
              <a:rPr sz="2600" b="1" dirty="0" err="1">
                <a:solidFill>
                  <a:srgbClr val="EDF2FF"/>
                </a:solidFill>
                <a:latin typeface="Georgia"/>
              </a:rPr>
              <a:t>платформу</a:t>
            </a:r>
            <a:r>
              <a:rPr sz="2600" b="1" dirty="0">
                <a:solidFill>
                  <a:srgbClr val="EDF2FF"/>
                </a:solidFill>
                <a:latin typeface="Georgia"/>
              </a:rPr>
              <a:t> </a:t>
            </a:r>
            <a:r>
              <a:rPr sz="2600" b="1" dirty="0" err="1">
                <a:solidFill>
                  <a:srgbClr val="EDF2FF"/>
                </a:solidFill>
                <a:latin typeface="Georgia"/>
              </a:rPr>
              <a:t>по</a:t>
            </a:r>
            <a:r>
              <a:rPr sz="2600" b="1" dirty="0">
                <a:solidFill>
                  <a:srgbClr val="EDF2FF"/>
                </a:solidFill>
                <a:latin typeface="Georgia"/>
              </a:rPr>
              <a:t> </a:t>
            </a:r>
            <a:r>
              <a:rPr sz="2600" b="1" dirty="0" err="1">
                <a:solidFill>
                  <a:srgbClr val="EDF2FF"/>
                </a:solidFill>
                <a:latin typeface="Georgia"/>
              </a:rPr>
              <a:t>концепции</a:t>
            </a:r>
            <a:r>
              <a:rPr sz="2600" b="1" dirty="0">
                <a:solidFill>
                  <a:srgbClr val="EDF2FF"/>
                </a:solidFill>
                <a:latin typeface="Georgia"/>
              </a:rPr>
              <a:t> «20 </a:t>
            </a:r>
            <a:r>
              <a:rPr sz="2600" b="1" dirty="0" err="1">
                <a:solidFill>
                  <a:srgbClr val="EDF2FF"/>
                </a:solidFill>
                <a:latin typeface="Georgia"/>
              </a:rPr>
              <a:t>часов</a:t>
            </a:r>
            <a:r>
              <a:rPr sz="2600" b="1" dirty="0">
                <a:solidFill>
                  <a:srgbClr val="EDF2FF"/>
                </a:solidFill>
                <a:latin typeface="Georgia"/>
              </a:rPr>
              <a:t>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424160" cy="73152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6EA8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499616"/>
            <a:ext cx="100584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 dirty="0" err="1">
                <a:solidFill>
                  <a:srgbClr val="B9C3DF"/>
                </a:solidFill>
                <a:latin typeface="Arial"/>
              </a:rPr>
              <a:t>Цель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создать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образовательную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веб-платформу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которая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помогает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пользователю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быстро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начать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новый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навык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через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короткий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структурированный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маршрут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B9C3DF"/>
                </a:solidFill>
                <a:latin typeface="Arial"/>
              </a:rPr>
              <a:t>обучения</a:t>
            </a:r>
            <a:r>
              <a:rPr sz="1400" b="0" dirty="0">
                <a:solidFill>
                  <a:srgbClr val="B9C3DF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47472" cy="347472"/>
          </a:xfrm>
          <a:prstGeom prst="ellipse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34747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6EA8FE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2560" y="2304288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dirty="0" err="1">
                <a:solidFill>
                  <a:srgbClr val="B9C3DF"/>
                </a:solidFill>
                <a:latin typeface="Arial"/>
              </a:rPr>
              <a:t>Изучить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9C3DF"/>
                </a:solidFill>
                <a:latin typeface="Arial"/>
              </a:rPr>
              <a:t>теоретические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9C3DF"/>
                </a:solidFill>
                <a:latin typeface="Arial"/>
              </a:rPr>
              <a:t>основы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9C3DF"/>
                </a:solidFill>
                <a:latin typeface="Arial"/>
              </a:rPr>
              <a:t>концепции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 «</a:t>
            </a:r>
            <a:r>
              <a:rPr sz="1600" b="0" dirty="0" err="1">
                <a:solidFill>
                  <a:srgbClr val="B9C3DF"/>
                </a:solidFill>
                <a:latin typeface="Arial"/>
              </a:rPr>
              <a:t>первых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 20 </a:t>
            </a:r>
            <a:r>
              <a:rPr sz="1600" b="0" dirty="0" err="1">
                <a:solidFill>
                  <a:srgbClr val="B9C3DF"/>
                </a:solidFill>
                <a:latin typeface="Arial"/>
              </a:rPr>
              <a:t>часов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».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17520"/>
            <a:ext cx="347472" cy="347472"/>
          </a:xfrm>
          <a:prstGeom prst="ellipse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44952"/>
            <a:ext cx="34747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6EA8FE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90088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dirty="0" err="1">
                <a:solidFill>
                  <a:srgbClr val="B9C3DF"/>
                </a:solidFill>
                <a:latin typeface="Arial"/>
              </a:rPr>
              <a:t>Спроектировать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9C3DF"/>
                </a:solidFill>
                <a:latin typeface="Arial"/>
              </a:rPr>
              <a:t>структуру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9C3DF"/>
                </a:solidFill>
                <a:latin typeface="Arial"/>
              </a:rPr>
              <a:t>платформы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 и </a:t>
            </a:r>
            <a:r>
              <a:rPr sz="1600" b="0" dirty="0" err="1">
                <a:solidFill>
                  <a:srgbClr val="B9C3DF"/>
                </a:solidFill>
                <a:latin typeface="Arial"/>
              </a:rPr>
              <a:t>пользовательский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9C3DF"/>
                </a:solidFill>
                <a:latin typeface="Arial"/>
              </a:rPr>
              <a:t>сценарий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03320"/>
            <a:ext cx="347472" cy="347472"/>
          </a:xfrm>
          <a:prstGeom prst="ellipse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34747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6EA8FE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675888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dirty="0" err="1">
                <a:solidFill>
                  <a:srgbClr val="B9C3DF"/>
                </a:solidFill>
                <a:latin typeface="Arial"/>
              </a:rPr>
              <a:t>Разработать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9C3DF"/>
                </a:solidFill>
                <a:latin typeface="Arial"/>
              </a:rPr>
              <a:t>базу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9C3DF"/>
                </a:solidFill>
                <a:latin typeface="Arial"/>
              </a:rPr>
              <a:t>данных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 и </a:t>
            </a:r>
            <a:r>
              <a:rPr sz="1600" b="0" dirty="0" err="1">
                <a:solidFill>
                  <a:srgbClr val="B9C3DF"/>
                </a:solidFill>
                <a:latin typeface="Arial"/>
              </a:rPr>
              <a:t>модели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9C3DF"/>
                </a:solidFill>
                <a:latin typeface="Arial"/>
              </a:rPr>
              <a:t>хранения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9C3DF"/>
                </a:solidFill>
                <a:latin typeface="Arial"/>
              </a:rPr>
              <a:t>контента</a:t>
            </a:r>
            <a:r>
              <a:rPr sz="1600" b="0" dirty="0">
                <a:solidFill>
                  <a:srgbClr val="B9C3DF"/>
                </a:solidFill>
                <a:latin typeface="Arial"/>
              </a:rPr>
              <a:t>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389120"/>
            <a:ext cx="347472" cy="347472"/>
          </a:xfrm>
          <a:prstGeom prst="ellipse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34747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6EA8FE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361688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B9C3DF"/>
                </a:solidFill>
                <a:latin typeface="Arial"/>
              </a:rPr>
              <a:t>Реализовать сайт на Python и Django.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074920"/>
            <a:ext cx="347472" cy="347472"/>
          </a:xfrm>
          <a:prstGeom prst="ellipse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102352"/>
            <a:ext cx="34747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6EA8FE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047488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B9C3DF"/>
                </a:solidFill>
                <a:latin typeface="Arial"/>
              </a:rPr>
              <a:t>Провести тестирование и оценить результат работы.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7BE0A4"/>
                </a:solidFill>
                <a:latin typeface="Arial"/>
              </a:rPr>
              <a:t>ТЕОРИЯ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747" y="708660"/>
            <a:ext cx="80467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 dirty="0" err="1">
                <a:solidFill>
                  <a:srgbClr val="EDF2FF"/>
                </a:solidFill>
                <a:latin typeface="Georgia"/>
              </a:rPr>
              <a:t>Концепция</a:t>
            </a:r>
            <a:r>
              <a:rPr sz="2600" b="1" dirty="0">
                <a:solidFill>
                  <a:srgbClr val="EDF2FF"/>
                </a:solidFill>
                <a:latin typeface="Georgia"/>
              </a:rPr>
              <a:t> «The First 20 Hours»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3108960" cy="347472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6EA8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7315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EDF2FF"/>
                </a:solidFill>
                <a:latin typeface="Arial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Arial"/>
              </a:rPr>
              <a:t>Джош Кауфман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560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B9C3DF"/>
                </a:solidFill>
                <a:latin typeface="Arial"/>
              </a:rPr>
              <a:t>Книга: The First 20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956560"/>
            <a:ext cx="1207347" cy="45720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/>
            <a:r>
              <a:rPr sz="2200" b="1" dirty="0">
                <a:solidFill>
                  <a:srgbClr val="C7A6FF"/>
                </a:solidFill>
                <a:latin typeface="Arial"/>
              </a:rPr>
              <a:t>10 000 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994660"/>
            <a:ext cx="5029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 dirty="0">
                <a:solidFill>
                  <a:srgbClr val="B9C3DF"/>
                </a:solidFill>
                <a:latin typeface="Arial"/>
              </a:rPr>
              <a:t>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926080"/>
            <a:ext cx="914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 dirty="0">
                <a:solidFill>
                  <a:srgbClr val="7BE0A4"/>
                </a:solidFill>
                <a:latin typeface="Arial"/>
              </a:rPr>
              <a:t>20 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2560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B9C3DF"/>
                </a:solidFill>
                <a:latin typeface="Arial"/>
              </a:rPr>
              <a:t>Для базового уровня нового навыка достаточно около 20 часов осознанной практики.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3017520" cy="132588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6EA8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1810512"/>
            <a:ext cx="2560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6EA8FE"/>
                </a:solidFill>
                <a:latin typeface="Arial"/>
              </a:rPr>
              <a:t>1. Декомпозиция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176272"/>
            <a:ext cx="2651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B9C3DF"/>
                </a:solidFill>
                <a:latin typeface="Arial"/>
              </a:rPr>
              <a:t>Разбить навык на небольшие понятные элементы.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645920"/>
            <a:ext cx="3017520" cy="132588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7BE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36992" y="1810512"/>
            <a:ext cx="2560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7BE0A4"/>
                </a:solidFill>
                <a:latin typeface="Arial"/>
              </a:rPr>
              <a:t>2. Убрать барьеры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2176272"/>
            <a:ext cx="2651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B9C3DF"/>
                </a:solidFill>
                <a:latin typeface="Arial"/>
              </a:rPr>
              <a:t>Подготовить среду и убрать всё, что мешает началу.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291840"/>
            <a:ext cx="3017520" cy="132588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C7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62272" y="3456432"/>
            <a:ext cx="2560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C7A6FF"/>
                </a:solidFill>
                <a:latin typeface="Arial"/>
              </a:rPr>
              <a:t>3. 20 минут в день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3822192"/>
            <a:ext cx="2651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B9C3DF"/>
                </a:solidFill>
                <a:latin typeface="Arial"/>
              </a:rPr>
              <a:t>Регулярность важнее редких длинных занятий.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291840"/>
            <a:ext cx="3017520" cy="132588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FFC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36992" y="3456432"/>
            <a:ext cx="2560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FFC86E"/>
                </a:solidFill>
                <a:latin typeface="Arial"/>
              </a:rPr>
              <a:t>4. Осознанная практика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3822192"/>
            <a:ext cx="2651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B9C3DF"/>
                </a:solidFill>
                <a:latin typeface="Arial"/>
              </a:rPr>
              <a:t>Повторять действия с целью улучшения.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7BE0A4"/>
                </a:solidFill>
                <a:latin typeface="Arial"/>
              </a:rPr>
              <a:t>АРХИТЕКТУРА ПЛАТФОРМЫ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80467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EDF2FF"/>
                </a:solidFill>
                <a:latin typeface="Georgia"/>
              </a:rPr>
              <a:t>Технологии и логика построения сайта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691640" cy="109728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6EA8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EDF2FF"/>
                </a:solidFill>
                <a:latin typeface="Arial"/>
              </a:rPr>
              <a:t>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6EA8FE"/>
                </a:solidFill>
                <a:latin typeface="Arial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645920"/>
            <a:ext cx="1691640" cy="109728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7BE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737360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EDF2FF"/>
                </a:solidFill>
                <a:latin typeface="Arial"/>
              </a:rPr>
              <a:t>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039112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7BE0A4"/>
                </a:solidFill>
                <a:latin typeface="Arial"/>
              </a:rPr>
              <a:t>Django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1691640" cy="109728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C7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EDF2FF"/>
                </a:solidFill>
                <a:latin typeface="Arial"/>
              </a:rPr>
              <a:t>🗃️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10712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C7A6FF"/>
                </a:solidFill>
                <a:latin typeface="Arial"/>
              </a:rPr>
              <a:t>SQLite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017520"/>
            <a:ext cx="1691640" cy="109728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FFC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88920" y="3108960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EDF2FF"/>
                </a:solidFill>
                <a:latin typeface="Arial"/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410712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C86E"/>
                </a:solidFill>
                <a:latin typeface="Arial"/>
              </a:rPr>
              <a:t>HTML/CSS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737360"/>
            <a:ext cx="5669280" cy="256032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6EA8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0" y="2743200"/>
            <a:ext cx="1005840" cy="502920"/>
          </a:xfrm>
          <a:prstGeom prst="roundRect">
            <a:avLst/>
          </a:prstGeom>
          <a:solidFill>
            <a:srgbClr val="1C233C"/>
          </a:solidFill>
          <a:ln w="12700">
            <a:solidFill>
              <a:srgbClr val="7BE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0" y="2871216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EDF2FF"/>
                </a:solidFill>
                <a:latin typeface="Arial"/>
              </a:rPr>
              <a:t>Категория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852928"/>
            <a:ext cx="228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7BE0A4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84848" y="2743200"/>
            <a:ext cx="1005840" cy="502920"/>
          </a:xfrm>
          <a:prstGeom prst="roundRect">
            <a:avLst/>
          </a:prstGeom>
          <a:solidFill>
            <a:srgbClr val="1C233C"/>
          </a:solidFill>
          <a:ln w="12700">
            <a:solidFill>
              <a:srgbClr val="7BE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2871216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EDF2FF"/>
                </a:solidFill>
                <a:latin typeface="Arial"/>
              </a:rPr>
              <a:t>Курс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8976" y="2852928"/>
            <a:ext cx="228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7BE0A4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2743200"/>
            <a:ext cx="1005840" cy="502920"/>
          </a:xfrm>
          <a:prstGeom prst="roundRect">
            <a:avLst/>
          </a:prstGeom>
          <a:solidFill>
            <a:srgbClr val="1C233C"/>
          </a:solidFill>
          <a:ln w="12700">
            <a:solidFill>
              <a:srgbClr val="7BE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3296" y="2871216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EDF2FF"/>
                </a:solidFill>
                <a:latin typeface="Arial"/>
              </a:rPr>
              <a:t>Урок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2852928"/>
            <a:ext cx="228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7BE0A4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81744" y="2743200"/>
            <a:ext cx="1005840" cy="502920"/>
          </a:xfrm>
          <a:prstGeom prst="roundRect">
            <a:avLst/>
          </a:prstGeom>
          <a:solidFill>
            <a:srgbClr val="1C233C"/>
          </a:solidFill>
          <a:ln w="12700">
            <a:solidFill>
              <a:srgbClr val="7BE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81744" y="2871216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EDF2FF"/>
                </a:solidFill>
                <a:latin typeface="Arial"/>
              </a:rPr>
              <a:t>Блоки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057400"/>
            <a:ext cx="5029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6EA8FE"/>
                </a:solidFill>
                <a:latin typeface="Arial"/>
              </a:rPr>
              <a:t>Схема сайта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657600"/>
            <a:ext cx="5029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B9C3DF"/>
                </a:solidFill>
                <a:latin typeface="Arial"/>
              </a:rPr>
              <a:t>Модель работы напоминает MVC: интерфейс → Django views → models → база данных.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7BE0A4"/>
                </a:solidFill>
                <a:latin typeface="Arial"/>
              </a:rPr>
              <a:t>БАЗА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80467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EDF2FF"/>
                </a:solidFill>
                <a:latin typeface="Georgia"/>
              </a:rPr>
              <a:t>ER-структура платформы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89920" cy="438912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6EA8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920240" cy="914400"/>
          </a:xfrm>
          <a:prstGeom prst="roundRect">
            <a:avLst/>
          </a:prstGeom>
          <a:solidFill>
            <a:srgbClr val="1C233C"/>
          </a:solidFill>
          <a:ln w="12700">
            <a:solidFill>
              <a:srgbClr val="6EA8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1920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6EA8FE"/>
                </a:solidFill>
                <a:latin typeface="Arial"/>
              </a:rP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920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B9C3DF"/>
                </a:solidFill>
                <a:latin typeface="Arial"/>
              </a:rPr>
              <a:t>категории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7792" y="2148840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7BE0A4"/>
                </a:solidFill>
                <a:latin typeface="Arial"/>
              </a:rPr>
              <a:t>1:N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1920240" cy="914400"/>
          </a:xfrm>
          <a:prstGeom prst="roundRect">
            <a:avLst/>
          </a:prstGeom>
          <a:solidFill>
            <a:srgbClr val="1C233C"/>
          </a:solidFill>
          <a:ln w="12700">
            <a:solidFill>
              <a:srgbClr val="7BE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2029968"/>
            <a:ext cx="1920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7BE0A4"/>
                </a:solidFill>
                <a:latin typeface="Arial"/>
              </a:rPr>
              <a:t>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31720"/>
            <a:ext cx="1920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B9C3DF"/>
                </a:solidFill>
                <a:latin typeface="Arial"/>
              </a:rPr>
              <a:t>курсы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9552" y="2148840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7BE0A4"/>
                </a:solidFill>
                <a:latin typeface="Arial"/>
              </a:rPr>
              <a:t>1:N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1920240" cy="914400"/>
          </a:xfrm>
          <a:prstGeom prst="roundRect">
            <a:avLst/>
          </a:prstGeom>
          <a:solidFill>
            <a:srgbClr val="1C233C"/>
          </a:solidFill>
          <a:ln w="12700">
            <a:solidFill>
              <a:srgbClr val="FFC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029968"/>
            <a:ext cx="1920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C86E"/>
                </a:solidFill>
                <a:latin typeface="Arial"/>
              </a:rPr>
              <a:t>Lessons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1920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B9C3DF"/>
                </a:solidFill>
                <a:latin typeface="Arial"/>
              </a:rPr>
              <a:t>уроки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148840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7BE0A4"/>
                </a:solidFill>
                <a:latin typeface="Arial"/>
              </a:rPr>
              <a:t>1:N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828800"/>
            <a:ext cx="1920240" cy="914400"/>
          </a:xfrm>
          <a:prstGeom prst="roundRect">
            <a:avLst/>
          </a:prstGeom>
          <a:solidFill>
            <a:srgbClr val="1C233C"/>
          </a:solidFill>
          <a:ln w="12700">
            <a:solidFill>
              <a:srgbClr val="C7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0" y="2029968"/>
            <a:ext cx="1920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C7A6FF"/>
                </a:solidFill>
                <a:latin typeface="Arial"/>
              </a:rPr>
              <a:t>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331720"/>
            <a:ext cx="1920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B9C3DF"/>
                </a:solidFill>
                <a:latin typeface="Arial"/>
              </a:rPr>
              <a:t>контент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977639"/>
            <a:ext cx="1828800" cy="868680"/>
          </a:xfrm>
          <a:prstGeom prst="roundRect">
            <a:avLst/>
          </a:prstGeom>
          <a:solidFill>
            <a:srgbClr val="1C233C"/>
          </a:solidFill>
          <a:ln w="12700">
            <a:solidFill>
              <a:srgbClr val="FFC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4187952"/>
            <a:ext cx="1828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C86E"/>
                </a:solidFill>
                <a:latin typeface="Arial"/>
              </a:rPr>
              <a:t>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794760"/>
            <a:ext cx="2560320" cy="1234440"/>
          </a:xfrm>
          <a:prstGeom prst="roundRect">
            <a:avLst/>
          </a:prstGeom>
          <a:solidFill>
            <a:srgbClr val="231923"/>
          </a:solidFill>
          <a:ln w="12700">
            <a:solidFill>
              <a:srgbClr val="FF8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4069080"/>
            <a:ext cx="2560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8D8D"/>
                </a:solidFill>
                <a:latin typeface="Arial"/>
              </a:rPr>
              <a:t>UserCourseProgress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89120"/>
            <a:ext cx="25603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B9C3DF"/>
                </a:solidFill>
                <a:latin typeface="Arial"/>
              </a:rPr>
              <a:t>связь user ↔ course + прогресс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3977639"/>
            <a:ext cx="1828800" cy="868680"/>
          </a:xfrm>
          <a:prstGeom prst="roundRect">
            <a:avLst/>
          </a:prstGeom>
          <a:solidFill>
            <a:srgbClr val="1C233C"/>
          </a:solidFill>
          <a:ln w="12700">
            <a:solidFill>
              <a:srgbClr val="7BE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0" y="4187952"/>
            <a:ext cx="1828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7BE0A4"/>
                </a:solidFill>
                <a:latin typeface="Arial"/>
              </a:rPr>
              <a:t>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206240"/>
            <a:ext cx="914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8D8D"/>
                </a:solidFill>
                <a:latin typeface="Arial"/>
              </a:rPr>
              <a:t>M:N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206240"/>
            <a:ext cx="9144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8D8D"/>
                </a:solidFill>
                <a:latin typeface="Arial"/>
              </a:rPr>
              <a:t>← M:N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34924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B9C3DF"/>
                </a:solidFill>
                <a:latin typeface="Arial"/>
              </a:rPr>
              <a:t>Всего 6 моделей: User, Category, Course, Lessons, Block, UserCourseProgress.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7BE0A4"/>
                </a:solidFill>
                <a:latin typeface="Arial"/>
              </a:rPr>
              <a:t>РЕАЛИЗАЦИЯ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80467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EDF2FF"/>
                </a:solidFill>
                <a:latin typeface="Georgia"/>
              </a:rPr>
              <a:t>Как выглядит готовая платформа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D74F707A-B141-F6E8-81C8-9D55F3C0A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90" y="1369148"/>
            <a:ext cx="4250267" cy="2370029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94E9732C-7508-B24A-44E2-8419DAA91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0" y="1369148"/>
            <a:ext cx="3852333" cy="2416178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A18E7DAF-A413-C2FD-5F94-9F3C40D16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288" y="4046011"/>
            <a:ext cx="3951830" cy="23700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-640080"/>
            <a:ext cx="2926080" cy="2377440"/>
          </a:xfrm>
          <a:prstGeom prst="ellipse">
            <a:avLst/>
          </a:prstGeom>
          <a:solidFill>
            <a:srgbClr val="7BE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457200" y="5212080"/>
            <a:ext cx="3108960" cy="1920240"/>
          </a:xfrm>
          <a:prstGeom prst="ellipse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2286000"/>
            <a:ext cx="1645920" cy="1645920"/>
          </a:xfrm>
          <a:prstGeom prst="ellipse">
            <a:avLst/>
          </a:prstGeom>
          <a:solidFill>
            <a:srgbClr val="C7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7BE0A4"/>
                </a:solidFill>
                <a:latin typeface="Arial"/>
              </a:rPr>
              <a:t>ВЫВОДЫ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3545" y="1619673"/>
            <a:ext cx="4025053" cy="133265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0" dirty="0">
                <a:solidFill>
                  <a:srgbClr val="B9C3DF"/>
                </a:solidFill>
                <a:latin typeface="Arial"/>
              </a:rPr>
              <a:t>GitHub:</a:t>
            </a:r>
            <a:endParaRPr lang="en-US" sz="2000" b="0" dirty="0">
              <a:solidFill>
                <a:srgbClr val="B9C3DF"/>
              </a:solidFill>
              <a:latin typeface="Arial"/>
            </a:endParaRPr>
          </a:p>
          <a:p>
            <a:pPr algn="ctr"/>
            <a:r>
              <a:rPr sz="2000" b="0" dirty="0">
                <a:solidFill>
                  <a:srgbClr val="B9C3DF"/>
                </a:solidFill>
                <a:latin typeface="Arial"/>
              </a:rPr>
              <a:t> github.com/</a:t>
            </a:r>
            <a:r>
              <a:rPr sz="2000" b="0" dirty="0" err="1">
                <a:solidFill>
                  <a:srgbClr val="B9C3DF"/>
                </a:solidFill>
                <a:latin typeface="Arial"/>
              </a:rPr>
              <a:t>EUchevatkin</a:t>
            </a:r>
            <a:r>
              <a:rPr sz="2000" b="0" dirty="0">
                <a:solidFill>
                  <a:srgbClr val="B9C3DF"/>
                </a:solidFill>
                <a:latin typeface="Arial"/>
              </a:rPr>
              <a:t>/</a:t>
            </a:r>
            <a:r>
              <a:rPr sz="2000" b="0" dirty="0" err="1">
                <a:solidFill>
                  <a:srgbClr val="B9C3DF"/>
                </a:solidFill>
                <a:latin typeface="Arial"/>
              </a:rPr>
              <a:t>Iproject</a:t>
            </a:r>
            <a:endParaRPr sz="2000" b="0" dirty="0">
              <a:solidFill>
                <a:srgbClr val="B9C3DF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30977" y="2963842"/>
            <a:ext cx="3610187" cy="60993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400" b="1" dirty="0" err="1">
                <a:solidFill>
                  <a:srgbClr val="7BE0A4"/>
                </a:solidFill>
                <a:latin typeface="Arial"/>
              </a:rPr>
              <a:t>Спасибо</a:t>
            </a:r>
            <a:r>
              <a:rPr sz="2400" b="1" dirty="0">
                <a:solidFill>
                  <a:srgbClr val="7BE0A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7BE0A4"/>
                </a:solidFill>
                <a:latin typeface="Arial"/>
              </a:rPr>
              <a:t>за</a:t>
            </a:r>
            <a:r>
              <a:rPr sz="2400" b="1" dirty="0">
                <a:solidFill>
                  <a:srgbClr val="7BE0A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7BE0A4"/>
                </a:solidFill>
                <a:latin typeface="Arial"/>
              </a:rPr>
              <a:t>внимание</a:t>
            </a:r>
            <a:r>
              <a:rPr sz="2400" b="1" dirty="0">
                <a:solidFill>
                  <a:srgbClr val="7BE0A4"/>
                </a:solidFill>
                <a:latin typeface="Arial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393</Words>
  <Application>Microsoft Office PowerPoint</Application>
  <PresentationFormat>Широкоэкранный</PresentationFormat>
  <Paragraphs>101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borrasque</dc:creator>
  <cp:keywords/>
  <dc:description>generated using python-pptx</dc:description>
  <cp:lastModifiedBy>borrasque</cp:lastModifiedBy>
  <cp:revision>2</cp:revision>
  <dcterms:created xsi:type="dcterms:W3CDTF">2013-01-27T09:14:16Z</dcterms:created>
  <dcterms:modified xsi:type="dcterms:W3CDTF">2026-04-27T18:57:23Z</dcterms:modified>
  <cp:category/>
</cp:coreProperties>
</file>